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F7F8F6-A79F-42E3-9F7A-A66857729C05}">
  <a:tblStyle styleId="{FCF7F8F6-A79F-42E3-9F7A-A66857729C0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d346e397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d346e397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d467954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d467954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d4679541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d467954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d37afa68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d37afa68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d37afa6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d37afa6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d346e397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d346e397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d37368c3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d37368c3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d37368c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d37368c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d37368c3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d37368c3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d37368c3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d37368c3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d37368c3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d37368c3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d37368c3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d37368c3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d346e397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d346e397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380150" y="2125750"/>
            <a:ext cx="33750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Uber es más rápido en un 80% de las orders.</a:t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En 1 de cada 2 orders, Peya toma al menos un 30% más de tiempo que Uber.</a:t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Esto sugiere que los tiempos de preparación están sobrestimados.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5553" l="0" r="0" t="0"/>
          <a:stretch/>
        </p:blipFill>
        <p:spPr>
          <a:xfrm>
            <a:off x="4217350" y="1475799"/>
            <a:ext cx="4614951" cy="27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A1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00" y="1201875"/>
            <a:ext cx="5160551" cy="2455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2150" y="1201875"/>
            <a:ext cx="3587751" cy="2146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309" y="423325"/>
            <a:ext cx="4302815" cy="2047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297" y="2470553"/>
            <a:ext cx="4302815" cy="2047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7512" y="2571746"/>
            <a:ext cx="3957786" cy="2368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2073" y="110050"/>
            <a:ext cx="3788644" cy="2266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" name="Google Shape;82;p17"/>
          <p:cNvGraphicFramePr/>
          <p:nvPr/>
        </p:nvGraphicFramePr>
        <p:xfrm>
          <a:off x="1238250" y="143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{FCF7F8F6-A79F-42E3-9F7A-A66857729C05}</a:tableStyleId>
              </a:tblPr>
              <a:tblGrid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franchise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selected stores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total stores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old EPT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 EPT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diff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r>
                        <a:rPr lang="en" sz="1000"/>
                        <a:t>iff 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China Wok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23.7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-8.8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-37%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KFC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-13.6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-47%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Wendy's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29.1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-12.9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-45%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2855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per franchise</a:t>
            </a:r>
            <a:endParaRPr/>
          </a:p>
        </p:txBody>
      </p:sp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Setup</a:t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6821700" y="2995875"/>
            <a:ext cx="2010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Pre:  8-11 May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Post: 15-18 May</a:t>
            </a:r>
            <a:endParaRPr sz="1000">
              <a:solidFill>
                <a:schemeClr val="dk1"/>
              </a:solidFill>
            </a:endParaRPr>
          </a:p>
        </p:txBody>
      </p:sp>
      <p:graphicFrame>
        <p:nvGraphicFramePr>
          <p:cNvPr id="86" name="Google Shape;86;p17"/>
          <p:cNvGraphicFramePr/>
          <p:nvPr/>
        </p:nvGraphicFramePr>
        <p:xfrm>
          <a:off x="126425" y="37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{FCF7F8F6-A79F-42E3-9F7A-A66857729C05}</a:tableStyleId>
              </a:tblPr>
              <a:tblGrid>
                <a:gridCol w="749050"/>
                <a:gridCol w="1177500"/>
                <a:gridCol w="985775"/>
                <a:gridCol w="1694475"/>
                <a:gridCol w="1573500"/>
                <a:gridCol w="1330200"/>
                <a:gridCol w="13806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franchise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Tt_Diff_Untreated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Tt_Diff_Treated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Slow_ratio_Diff_Untreated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Slow_ratio_Diff_Treated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ctp_Diff_Untreated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ctp_Diff_Treated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China Wok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-0.7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-5.2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-10.0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-16.6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-3.8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-7.5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KFC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-0.5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-6.7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-3.8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-16.3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-2.2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-8.4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Wendy's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-0.1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-5.8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-5.8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-14.5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-2.5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-7.0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" name="Google Shape;87;p17"/>
          <p:cNvSpPr txBox="1"/>
          <p:nvPr/>
        </p:nvSpPr>
        <p:spPr>
          <a:xfrm>
            <a:off x="6559700" y="564350"/>
            <a:ext cx="201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Old</a:t>
            </a:r>
            <a:r>
              <a:rPr lang="en" sz="1000">
                <a:solidFill>
                  <a:schemeClr val="dk1"/>
                </a:solidFill>
              </a:rPr>
              <a:t>:  27-10 May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Google Shape;92;p18"/>
          <p:cNvGraphicFramePr/>
          <p:nvPr/>
        </p:nvGraphicFramePr>
        <p:xfrm>
          <a:off x="1238250" y="8763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{FCF7F8F6-A79F-42E3-9F7A-A66857729C05}</a:tableStyleId>
              </a:tblPr>
              <a:tblGrid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franchise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selected stores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total stores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avg old EPT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avg new EPT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diff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diff_pct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China Wok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23.7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-8.8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-37%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KFC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-13.6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-47%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Wendy's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29.1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-12.9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-45%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" name="Google Shape;93;p18"/>
          <p:cNvGraphicFramePr/>
          <p:nvPr/>
        </p:nvGraphicFramePr>
        <p:xfrm>
          <a:off x="2300275" y="33850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{FCF7F8F6-A79F-42E3-9F7A-A66857729C05}</a:tableStyleId>
              </a:tblPr>
              <a:tblGrid>
                <a:gridCol w="1038225"/>
                <a:gridCol w="1828800"/>
                <a:gridCol w="16764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franchise_name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ept+awt_diff_untreated_mins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ept+awt_diff_treated_mins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China Wok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-0.7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-5.2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KFC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-0.5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-6.7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Wendy's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-0.1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-5.8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268702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per franchise</a:t>
            </a:r>
            <a:endParaRPr/>
          </a:p>
        </p:txBody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16559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Friday to monday</a:t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5281425" y="265674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avg old EPT: entre x e y fechas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avg new EPT: se tomó los numeros de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6203700" y="2883299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Incluir diferencias en ctp y slow</a:t>
            </a:r>
            <a:endParaRPr sz="1000">
              <a:solidFill>
                <a:schemeClr val="dk1"/>
              </a:solidFill>
            </a:endParaRPr>
          </a:p>
        </p:txBody>
      </p:sp>
      <p:graphicFrame>
        <p:nvGraphicFramePr>
          <p:cNvPr id="98" name="Google Shape;98;p18"/>
          <p:cNvGraphicFramePr/>
          <p:nvPr/>
        </p:nvGraphicFramePr>
        <p:xfrm>
          <a:off x="2300275" y="43052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{FCF7F8F6-A79F-42E3-9F7A-A66857729C05}</a:tableStyleId>
              </a:tblPr>
              <a:tblGrid>
                <a:gridCol w="1038225"/>
                <a:gridCol w="1828800"/>
                <a:gridCol w="16764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franchise_name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ept+awt_diff_untreated_mins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ept+awt_diff_treated_mins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China Wok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-0.7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-5.2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KFC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-0.5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-6.7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Wendy's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-0.1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-5.8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" name="Google Shape;99;p18"/>
          <p:cNvSpPr txBox="1"/>
          <p:nvPr/>
        </p:nvSpPr>
        <p:spPr>
          <a:xfrm>
            <a:off x="861050" y="3584925"/>
            <a:ext cx="119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Regiones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892100" y="4450800"/>
            <a:ext cx="1128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Santiago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0" y="1283575"/>
            <a:ext cx="119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Regiones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131700" y="1989025"/>
            <a:ext cx="119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Santiago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103" name="Google Shape;103;p18"/>
          <p:cNvGraphicFramePr/>
          <p:nvPr/>
        </p:nvGraphicFramePr>
        <p:xfrm>
          <a:off x="1321800" y="18525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{FCF7F8F6-A79F-42E3-9F7A-A66857729C05}</a:tableStyleId>
              </a:tblPr>
              <a:tblGrid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franchise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selected stores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total stores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avg old EPT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avg new EPT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diff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diff_pct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China Wok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23.7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-8.8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-37%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KFC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-13.6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-47%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Wendy's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29.1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-12.9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-45%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EPT + AWT, CTP</a:t>
            </a: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575" y="1322525"/>
            <a:ext cx="6372841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7102300" y="3747300"/>
            <a:ext cx="1789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Pre:  8-11 May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Post: 15-18 May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Slow, Seamless</a:t>
            </a:r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6580275" y="3769700"/>
            <a:ext cx="1789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Pre:  8-11 May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Post: 15-18 May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300" y="1097000"/>
            <a:ext cx="590938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2855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per franchise</a:t>
            </a:r>
            <a:endParaRPr/>
          </a:p>
        </p:txBody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Setup</a:t>
            </a:r>
            <a:endParaRPr/>
          </a:p>
        </p:txBody>
      </p:sp>
      <p:graphicFrame>
        <p:nvGraphicFramePr>
          <p:cNvPr id="124" name="Google Shape;124;p21"/>
          <p:cNvGraphicFramePr/>
          <p:nvPr/>
        </p:nvGraphicFramePr>
        <p:xfrm>
          <a:off x="1201675" y="132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{FCF7F8F6-A79F-42E3-9F7A-A66857729C05}</a:tableStyleId>
              </a:tblPr>
              <a:tblGrid>
                <a:gridCol w="962950"/>
                <a:gridCol w="962950"/>
                <a:gridCol w="962950"/>
                <a:gridCol w="962950"/>
                <a:gridCol w="962950"/>
                <a:gridCol w="962950"/>
                <a:gridCol w="9629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franchise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selected stores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total stores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old ept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 ept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diff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r>
                        <a:rPr lang="en" sz="1000"/>
                        <a:t>iff 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China Wok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23.7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10.4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-13.3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-56%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KFC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11.3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-17.6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-61%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Wendy's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29.1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-17.8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-61%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" name="Google Shape;125;p21"/>
          <p:cNvSpPr txBox="1"/>
          <p:nvPr/>
        </p:nvSpPr>
        <p:spPr>
          <a:xfrm>
            <a:off x="6559700" y="564350"/>
            <a:ext cx="201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Old:  27-10 May</a:t>
            </a:r>
            <a:endParaRPr sz="1000">
              <a:solidFill>
                <a:schemeClr val="dk1"/>
              </a:solidFill>
            </a:endParaRPr>
          </a:p>
        </p:txBody>
      </p:sp>
      <p:graphicFrame>
        <p:nvGraphicFramePr>
          <p:cNvPr id="126" name="Google Shape;126;p21"/>
          <p:cNvGraphicFramePr/>
          <p:nvPr/>
        </p:nvGraphicFramePr>
        <p:xfrm>
          <a:off x="76488" y="373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{FCF7F8F6-A79F-42E3-9F7A-A66857729C05}</a:tableStyleId>
              </a:tblPr>
              <a:tblGrid>
                <a:gridCol w="1015400"/>
                <a:gridCol w="1143825"/>
                <a:gridCol w="1115200"/>
                <a:gridCol w="1667350"/>
                <a:gridCol w="1594650"/>
                <a:gridCol w="1292800"/>
                <a:gridCol w="11618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franchise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Tt_Diff_Untreated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Tt_Diff_Treated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Slow_ratio_Diff_Untreated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Slow_ratio_Diff_Treated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ctp_Diff_Untreated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ctp_Diff_Treated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China Wok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1.20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-10.33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-13.3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-7.06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KFC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-7.41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-4.5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0.46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-6.29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Wendy's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-9.73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-16.9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-9.64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" name="Google Shape;131;p22"/>
          <p:cNvGraphicFramePr/>
          <p:nvPr/>
        </p:nvGraphicFramePr>
        <p:xfrm>
          <a:off x="1238250" y="8763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{FCF7F8F6-A79F-42E3-9F7A-A66857729C05}</a:tableStyleId>
              </a:tblPr>
              <a:tblGrid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franchise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selected stores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total stores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avg old EPT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avg new EPT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diff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diff_pct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China Wok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23.7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-8.8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-37%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KFC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-13.6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-47%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Wendy's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29.1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-12.9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-45%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2" name="Google Shape;132;p22"/>
          <p:cNvGraphicFramePr/>
          <p:nvPr/>
        </p:nvGraphicFramePr>
        <p:xfrm>
          <a:off x="2300275" y="33850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{FCF7F8F6-A79F-42E3-9F7A-A66857729C05}</a:tableStyleId>
              </a:tblPr>
              <a:tblGrid>
                <a:gridCol w="1038225"/>
                <a:gridCol w="1828800"/>
                <a:gridCol w="16764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franchise_name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ept+awt_diff_untreated_mins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ept+awt_diff_treated_mins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China Wok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-0.7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-5.2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KFC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-0.5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-6.7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Wendy's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-0.1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-5.8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22"/>
          <p:cNvSpPr txBox="1"/>
          <p:nvPr>
            <p:ph type="title"/>
          </p:nvPr>
        </p:nvSpPr>
        <p:spPr>
          <a:xfrm>
            <a:off x="311700" y="268702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per franchise</a:t>
            </a:r>
            <a:endParaRPr/>
          </a:p>
        </p:txBody>
      </p:sp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16559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Tuesday</a:t>
            </a:r>
            <a:endParaRPr/>
          </a:p>
        </p:txBody>
      </p:sp>
      <p:sp>
        <p:nvSpPr>
          <p:cNvPr id="135" name="Google Shape;135;p22"/>
          <p:cNvSpPr txBox="1"/>
          <p:nvPr/>
        </p:nvSpPr>
        <p:spPr>
          <a:xfrm>
            <a:off x="5281425" y="265674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avg old EPT: entre x e y fechas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avg new EPT: se tomó los numeros de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6203700" y="2883299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Incluir diferencias en ctp y slow</a:t>
            </a:r>
            <a:endParaRPr sz="1000">
              <a:solidFill>
                <a:schemeClr val="dk1"/>
              </a:solidFill>
            </a:endParaRPr>
          </a:p>
        </p:txBody>
      </p:sp>
      <p:graphicFrame>
        <p:nvGraphicFramePr>
          <p:cNvPr id="137" name="Google Shape;137;p22"/>
          <p:cNvGraphicFramePr/>
          <p:nvPr/>
        </p:nvGraphicFramePr>
        <p:xfrm>
          <a:off x="2300275" y="43052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{FCF7F8F6-A79F-42E3-9F7A-A66857729C05}</a:tableStyleId>
              </a:tblPr>
              <a:tblGrid>
                <a:gridCol w="1038225"/>
                <a:gridCol w="1828800"/>
                <a:gridCol w="16764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franchise_name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ept+awt_diff_untreated_mins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ept+awt_diff_treated_mins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China Wok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-0.7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-5.2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KFC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-0.5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-6.7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Wendy's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-0.1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-5.8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22"/>
          <p:cNvSpPr txBox="1"/>
          <p:nvPr/>
        </p:nvSpPr>
        <p:spPr>
          <a:xfrm>
            <a:off x="861050" y="3584925"/>
            <a:ext cx="119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Regiones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892100" y="4450800"/>
            <a:ext cx="1128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Santiago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0" y="1283575"/>
            <a:ext cx="119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Regiones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131700" y="1989025"/>
            <a:ext cx="119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Santiago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142" name="Google Shape;142;p22"/>
          <p:cNvGraphicFramePr/>
          <p:nvPr/>
        </p:nvGraphicFramePr>
        <p:xfrm>
          <a:off x="1321800" y="18525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{FCF7F8F6-A79F-42E3-9F7A-A66857729C05}</a:tableStyleId>
              </a:tblPr>
              <a:tblGrid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franchise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selected stores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total stores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avg old EPT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avg new EPT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diff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diff_pct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China Wok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23.7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-8.8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-37%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KFC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-13.6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-47%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Wendy's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29.1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-12.9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-45%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EPT + AWT, CTP</a:t>
            </a:r>
            <a:endParaRPr/>
          </a:p>
        </p:txBody>
      </p:sp>
      <p:sp>
        <p:nvSpPr>
          <p:cNvPr id="148" name="Google Shape;148;p23"/>
          <p:cNvSpPr txBox="1"/>
          <p:nvPr/>
        </p:nvSpPr>
        <p:spPr>
          <a:xfrm>
            <a:off x="7102300" y="3747300"/>
            <a:ext cx="1789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Pre:  12 May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Post: 19 May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575" y="1145725"/>
            <a:ext cx="637284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Slow, Seamless</a:t>
            </a:r>
            <a:endParaRPr/>
          </a:p>
        </p:txBody>
      </p:sp>
      <p:sp>
        <p:nvSpPr>
          <p:cNvPr id="155" name="Google Shape;155;p24"/>
          <p:cNvSpPr txBox="1"/>
          <p:nvPr/>
        </p:nvSpPr>
        <p:spPr>
          <a:xfrm>
            <a:off x="7102300" y="3747300"/>
            <a:ext cx="1789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Pre:  12 May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Post: 19 May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075" y="1105100"/>
            <a:ext cx="590938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 primer batch comprendía las franquicias KFC, </a:t>
            </a:r>
            <a:r>
              <a:rPr lang="en"/>
              <a:t>Wendy's, y China Wok, cubriendo el 53% de las orders sin FiR.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 próximo batch estará conformado por Papa John's, Carl's Jr., Domino's </a:t>
            </a:r>
            <a:r>
              <a:rPr lang="en"/>
              <a:t> P</a:t>
            </a:r>
            <a:r>
              <a:rPr lang="en"/>
              <a:t>izza y la Fuente Chilena.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 método de asignación de reducciones volverá a ser las tiendas de mayores EPT + AWT, abarcando un 30% del volumen de orders de cada franquicia.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Introducción de la data: contexto de la data de la competencia (rodri)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Mostrar resultados por vertical restaurante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Replicar resultados pero con </a:t>
            </a:r>
            <a:r>
              <a:rPr lang="en"/>
              <a:t>métricas</a:t>
            </a:r>
            <a:r>
              <a:rPr lang="en"/>
              <a:t> de created_to_pickup, slow,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 steps: new franchises, logica, guardrails, low fir junto a operaciones,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