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Outfit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8C1C0A-296B-4980-B9CB-A42D590D89ED}">
  <a:tblStyle styleId="{D38C1C0A-296B-4980-B9CB-A42D590D89E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4.xml"/><Relationship Id="rId22" Type="http://schemas.openxmlformats.org/officeDocument/2006/relationships/font" Target="fonts/Outfit-bold.fntdata"/><Relationship Id="rId10" Type="http://schemas.openxmlformats.org/officeDocument/2006/relationships/slide" Target="slides/slide3.xml"/><Relationship Id="rId21" Type="http://schemas.openxmlformats.org/officeDocument/2006/relationships/font" Target="fonts/Outfit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Poppins-regular.fnt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italic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Poppi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12bcf253c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12bcf253c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09b5dc6e2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09b5dc6e2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09b5d1fcb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409b5d1fcb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9b5dc6e2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9b5dc6e2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09b5dc6e2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09b5dc6e2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09b5dc6e2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09b5dc6e2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09b5dc6e2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09b5dc6e2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09b65020f2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409b65020f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09b65020f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09b65020f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0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3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8" y="204788"/>
            <a:ext cx="3833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50" y="-188700"/>
            <a:ext cx="33945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300" y="1628879"/>
            <a:ext cx="43887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50" y="142978"/>
            <a:ext cx="4388700" cy="4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713" y="1651300"/>
            <a:ext cx="4253799" cy="20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0087" y="1704488"/>
            <a:ext cx="4267200" cy="1952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Performance Semanal 2026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36" name="Google Shape;136;p26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7" name="Google Shape;137;p26"/>
          <p:cNvPicPr preferRelativeResize="0"/>
          <p:nvPr/>
        </p:nvPicPr>
        <p:blipFill rotWithShape="1">
          <a:blip r:embed="rId5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210100" y="451025"/>
            <a:ext cx="888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0050"/>
              </a:buClr>
              <a:buSzPts val="3100"/>
              <a:buFont typeface="Lato Black"/>
              <a:buNone/>
            </a:pPr>
            <a:r>
              <a:rPr b="1" lang="en" sz="2100">
                <a:solidFill>
                  <a:srgbClr val="FA0050"/>
                </a:solidFill>
                <a:latin typeface="Poppins"/>
                <a:ea typeface="Poppins"/>
                <a:cs typeface="Poppins"/>
                <a:sym typeface="Poppins"/>
              </a:rPr>
              <a:t>Última reducción sistemática se traduce en una caída de más de 3pp en HPT</a:t>
            </a:r>
            <a:endParaRPr b="1" sz="2100">
              <a:solidFill>
                <a:srgbClr val="FA0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304663" y="4012125"/>
            <a:ext cx="41379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0050"/>
              </a:buClr>
              <a:buSzPts val="3100"/>
              <a:buFont typeface="Lato Black"/>
              <a:buNone/>
            </a:pPr>
            <a:r>
              <a:rPr b="1" lang="en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Resto de CL</a:t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4957888" y="4012125"/>
            <a:ext cx="41379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0050"/>
              </a:buClr>
              <a:buSzPts val="3100"/>
              <a:buFont typeface="Lato Black"/>
              <a:buNone/>
            </a:pPr>
            <a:r>
              <a:rPr b="1" lang="en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Week34</a:t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Performance Semanal 2026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6" name="Google Shape;146;p27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7" name="Google Shape;147;p27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>
            <a:off x="210100" y="451025"/>
            <a:ext cx="88857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0050"/>
              </a:buClr>
              <a:buSzPts val="3100"/>
              <a:buFont typeface="Lato Black"/>
              <a:buNone/>
            </a:pPr>
            <a:r>
              <a:rPr b="1" lang="en" sz="2100">
                <a:solidFill>
                  <a:srgbClr val="FA0050"/>
                </a:solidFill>
                <a:latin typeface="Poppins"/>
                <a:ea typeface="Poppins"/>
                <a:cs typeface="Poppins"/>
                <a:sym typeface="Poppins"/>
              </a:rPr>
              <a:t>LAST WAVES</a:t>
            </a:r>
            <a:endParaRPr b="1" sz="2100">
              <a:solidFill>
                <a:srgbClr val="FA0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49" name="Google Shape;149;p27"/>
          <p:cNvGraphicFramePr/>
          <p:nvPr/>
        </p:nvGraphicFramePr>
        <p:xfrm>
          <a:off x="0" y="101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{D38C1C0A-296B-4980-B9CB-A42D590D89ED}</a:tableStyleId>
              </a:tblPr>
              <a:tblGrid>
                <a:gridCol w="1743075"/>
                <a:gridCol w="1057275"/>
                <a:gridCol w="1057275"/>
                <a:gridCol w="1057275"/>
                <a:gridCol w="1057275"/>
                <a:gridCol w="10572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metric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W11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W12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Week36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franchises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vendors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191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636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446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días evaluados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Post #Orders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27,310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8,176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60,135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9,595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95,155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 #Orders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28,751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7,749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58,618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8,412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87,360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 Orders CL Pre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1.8%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3.8%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10.3%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 Orders CL Post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1.8%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3.9%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0.6%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10.4%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ept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-7.3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-3.9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+3.5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pickup time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-5.2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-0.4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-6.7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E0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-6.3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E2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-0.8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BF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high preptimes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DA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0D8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AWT10 causal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B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awt_null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+4.4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awt_0min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-12.4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4C6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-18.1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-10.1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D1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-15.5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-17.6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awt_1_3min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awt_4plus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+12.5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92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+18.4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+10.5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A4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+13.6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8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+15.7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27/Jul-09/Aug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11/Aug-24/Aug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03/Aug-16/Aug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07/Aug-20/Aug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17/Aug-24/Aug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Post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10/Aug-23/Aug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25/Aug-07/Sep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17/Aug-30/Aug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21/Aug-03/Sep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31/Aug-07/Sep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Performance Semanal 2026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55" name="Google Shape;155;p28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6" name="Google Shape;156;p28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 txBox="1"/>
          <p:nvPr/>
        </p:nvSpPr>
        <p:spPr>
          <a:xfrm>
            <a:off x="137975" y="344300"/>
            <a:ext cx="88857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0050"/>
              </a:buClr>
              <a:buSzPts val="3100"/>
              <a:buFont typeface="Lato Black"/>
              <a:buNone/>
            </a:pPr>
            <a:r>
              <a:rPr b="1" lang="en" sz="1500">
                <a:solidFill>
                  <a:srgbClr val="FA0050"/>
                </a:solidFill>
                <a:latin typeface="Poppins"/>
                <a:ea typeface="Poppins"/>
                <a:cs typeface="Poppins"/>
                <a:sym typeface="Poppins"/>
              </a:rPr>
              <a:t>LAST WAVES-FLAGS</a:t>
            </a:r>
            <a:endParaRPr b="1" sz="1500">
              <a:solidFill>
                <a:srgbClr val="FA0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58" name="Google Shape;158;p28"/>
          <p:cNvGraphicFramePr/>
          <p:nvPr/>
        </p:nvGraphicFramePr>
        <p:xfrm>
          <a:off x="1990025" y="87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{D38C1C0A-296B-4980-B9CB-A42D590D89ED}</a:tableStyleId>
              </a:tblPr>
              <a:tblGrid>
                <a:gridCol w="468600"/>
                <a:gridCol w="339325"/>
                <a:gridCol w="339325"/>
                <a:gridCol w="393200"/>
                <a:gridCol w="371650"/>
                <a:gridCol w="328575"/>
                <a:gridCol w="328575"/>
                <a:gridCol w="430900"/>
                <a:gridCol w="393200"/>
                <a:gridCol w="371650"/>
                <a:gridCol w="328575"/>
                <a:gridCol w="328575"/>
                <a:gridCol w="430900"/>
                <a:gridCol w="3285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metric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W11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W12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Week36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flag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Data Partner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Data Partner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AWT0 reduction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EPT 8w ago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FIR last week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High preptime | FIR vertical-cuisine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Median Franchise-Grade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AWT0 reduction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EPT 8w ago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FIR last week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High preptime | FIR vertical-cuisine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Median Franchise-Grade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AWT0 reduction</a:t>
                      </a:r>
                      <a:endParaRPr b="1" sz="8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93B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franchises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vendors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127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161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109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126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66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345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días evaluados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Post #Orders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27,310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8,176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1,776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5,864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9,068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5,592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37,835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2,232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1,304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1,426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956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3,677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68,196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 #Orders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28,751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7,749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1,671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5,926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8,839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5,175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37,007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1,963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1,051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1,248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819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3,331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63,028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 Orders CL Pre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1.8%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0.1%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0.4%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0.6%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0.3%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2.4%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0.1%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0.1%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0.1%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0.1%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0.2%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7.4%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 Orders CL Post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1.8%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0.1%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0.4%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0.6%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0.4%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2.4%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0.1%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0.1%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0.1%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0.1%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0.2%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7.5%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ept (min)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-7.3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-9.9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-10.4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-7.5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-9.4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-14.8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-9.7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 (min)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+3.5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pickup time (min)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-5.2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-0.4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-5.0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E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-3.5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EF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-4.9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E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-7.6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-7.6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-1.4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-5.2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-6.5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E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-10.9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CD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-8.4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0D8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-0.8</a:t>
                      </a:r>
                      <a:endParaRPr b="1"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BF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high preptimes (pp)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3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DF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-9.4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DF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E2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-14.0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DE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AWT10 causal (pp)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B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D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3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8F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awt_null (pp)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+4.4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+5.5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+3.0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awt_0min (pp)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-12.4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4C6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-18.1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-19.4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-7.9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DB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-17.9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DA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0D8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-24.4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-11.5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CA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-20.4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-9.0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AD6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-11.2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CC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-21.8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awt_1_3min (pp)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-1.9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+3.3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+3.0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+0.7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+3.6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+4.6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+0.9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awt_4plus (pp)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+12.5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92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+18.4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+13.8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87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+9.6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AC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+15.2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+9.2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AF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+9.5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AD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+15.2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+16.2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+16.0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+8.4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6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+12.0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97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+18.6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27/Jul-09/Aug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11/Aug-24/Aug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03/Aug-16/Aug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03/Aug-16/Aug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03/Aug-16/Aug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03/Aug-16/Aug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03/Aug-16/Aug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07/Aug-20/Aug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07/Aug-20/Aug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07/Aug-20/Aug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07/Aug-20/Aug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07/Aug-20/Aug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17/Aug-24/Aug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Post</a:t>
                      </a:r>
                      <a:endParaRPr b="1" sz="8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10/Aug-23/Aug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25/Aug-07/Sep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17/Aug-30/Aug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17/Aug-30/Aug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17/Aug-30/Aug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17/Aug-30/Aug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17/Aug-30/Aug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21/Aug-03/Sep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21/Aug-03/Sep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21/Aug-03/Sep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21/Aug-03/Sep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21/Aug-03/Sep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31/Aug-07/Sep</a:t>
                      </a:r>
                      <a:endParaRPr sz="8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Performance Semanal 2026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4" name="Google Shape;164;p29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5" name="Google Shape;165;p29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/>
        </p:nvSpPr>
        <p:spPr>
          <a:xfrm>
            <a:off x="210100" y="451025"/>
            <a:ext cx="88857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0050"/>
              </a:buClr>
              <a:buSzPts val="3100"/>
              <a:buFont typeface="Lato Black"/>
              <a:buNone/>
            </a:pPr>
            <a:r>
              <a:rPr b="1" lang="en" sz="2100">
                <a:solidFill>
                  <a:srgbClr val="FA0050"/>
                </a:solidFill>
                <a:latin typeface="Poppins"/>
                <a:ea typeface="Poppins"/>
                <a:cs typeface="Poppins"/>
                <a:sym typeface="Poppins"/>
              </a:rPr>
              <a:t>LAST WAVES CL IMPACT</a:t>
            </a:r>
            <a:endParaRPr b="1" sz="21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67" name="Google Shape;167;p29"/>
          <p:cNvGraphicFramePr/>
          <p:nvPr/>
        </p:nvGraphicFramePr>
        <p:xfrm>
          <a:off x="928688" y="176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{D38C1C0A-296B-4980-B9CB-A42D590D89ED}</a:tableStyleId>
              </a:tblPr>
              <a:tblGrid>
                <a:gridCol w="1352550"/>
                <a:gridCol w="847725"/>
                <a:gridCol w="847725"/>
                <a:gridCol w="847725"/>
                <a:gridCol w="847725"/>
                <a:gridCol w="847725"/>
              </a:tblGrid>
              <a:tr h="32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metric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W11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W12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Week36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ept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-0.30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-0.43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pickup time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-0.08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E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0.00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-0.21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5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-0.03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-0.20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8C8A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high preptimes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-0.01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-0.01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-0.10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-0.02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+0.02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5E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AWT10 causal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+0.01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+0.01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+0.01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0.00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+0.02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5E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awt_null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awt_0min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-0.44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-1.45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awt_1_3min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awt_4plus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+0.24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+0.37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+1.35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Performance Semanal 2026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73" name="Google Shape;173;p30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 txBox="1"/>
          <p:nvPr/>
        </p:nvSpPr>
        <p:spPr>
          <a:xfrm>
            <a:off x="210100" y="451025"/>
            <a:ext cx="88857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0050"/>
              </a:buClr>
              <a:buSzPts val="3100"/>
              <a:buFont typeface="Lato Black"/>
              <a:buNone/>
            </a:pPr>
            <a:r>
              <a:rPr b="1" lang="en" sz="2100">
                <a:solidFill>
                  <a:srgbClr val="FA0050"/>
                </a:solidFill>
                <a:latin typeface="Poppins"/>
                <a:ea typeface="Poppins"/>
                <a:cs typeface="Poppins"/>
                <a:sym typeface="Poppins"/>
              </a:rPr>
              <a:t>LAST WAVES </a:t>
            </a:r>
            <a:r>
              <a:rPr b="1" lang="en" sz="21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SANTIAGO</a:t>
            </a:r>
            <a:endParaRPr b="1" sz="21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76" name="Google Shape;176;p30"/>
          <p:cNvGraphicFramePr/>
          <p:nvPr/>
        </p:nvGraphicFramePr>
        <p:xfrm>
          <a:off x="1279900" y="106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{D38C1C0A-296B-4980-B9CB-A42D590D89ED}</a:tableStyleId>
              </a:tblPr>
              <a:tblGrid>
                <a:gridCol w="1743075"/>
                <a:gridCol w="1057275"/>
                <a:gridCol w="1057275"/>
                <a:gridCol w="1057275"/>
                <a:gridCol w="1057275"/>
                <a:gridCol w="10572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metric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W11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W12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Week36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franchises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95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62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vendors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92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323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días evaluados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Post #Orders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14,724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468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22,111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4,356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30,547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 #Orders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15,337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467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21,557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3,793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27,785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 Orders CL Pre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1.0%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1.4%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0.2%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3.3%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 Orders CL Post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1.0%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1.4%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0.3%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3.3%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ept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-6.8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-6.4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-9.6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pickup time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-4.6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-3.6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E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-7.9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DB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-8.7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DD7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-1.1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AF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high preptimes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DD7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-3.2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D3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AWT10 causal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3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awt_null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-3.1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awt_0min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-13.5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7C1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-17.8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D8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-10.5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9CF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-19.1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awt_1_3min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awt_4plus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+10.8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A1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+17.0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+10.5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A4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9C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+16.5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27/Jul-09/Aug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11/Aug-24/Aug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03/Aug-16/Aug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07/Aug-20/Aug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17/Aug-24/Aug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Post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10/Aug-23/Aug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25/Aug-07/Sep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17/Aug-30/Aug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21/Aug-03/Sep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31/Aug-07/Sep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30"/>
          <p:cNvSpPr/>
          <p:nvPr/>
        </p:nvSpPr>
        <p:spPr>
          <a:xfrm>
            <a:off x="7252075" y="1015025"/>
            <a:ext cx="3296100" cy="407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Performance Semanal 2026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83" name="Google Shape;183;p31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4" name="Google Shape;184;p31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 txBox="1"/>
          <p:nvPr/>
        </p:nvSpPr>
        <p:spPr>
          <a:xfrm>
            <a:off x="210100" y="451025"/>
            <a:ext cx="88857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0050"/>
              </a:buClr>
              <a:buSzPts val="3100"/>
              <a:buFont typeface="Lato Black"/>
              <a:buNone/>
            </a:pPr>
            <a:r>
              <a:rPr b="1" lang="en" sz="2100">
                <a:solidFill>
                  <a:srgbClr val="FA0050"/>
                </a:solidFill>
                <a:latin typeface="Poppins"/>
                <a:ea typeface="Poppins"/>
                <a:cs typeface="Poppins"/>
                <a:sym typeface="Poppins"/>
              </a:rPr>
              <a:t>LAST WAVES </a:t>
            </a:r>
            <a:r>
              <a:rPr b="1" lang="en" sz="21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REGIONES</a:t>
            </a:r>
            <a:endParaRPr b="1" sz="21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86" name="Google Shape;186;p31"/>
          <p:cNvGraphicFramePr/>
          <p:nvPr/>
        </p:nvGraphicFramePr>
        <p:xfrm>
          <a:off x="0" y="101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{D38C1C0A-296B-4980-B9CB-A42D590D89ED}</a:tableStyleId>
              </a:tblPr>
              <a:tblGrid>
                <a:gridCol w="1743075"/>
                <a:gridCol w="1057275"/>
                <a:gridCol w="1057275"/>
                <a:gridCol w="1057275"/>
                <a:gridCol w="1057275"/>
                <a:gridCol w="10572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metric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W11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W12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Week36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franchises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vendors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99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313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267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días evaluados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Post #Orders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12,586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7,708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38,024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5,239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64,608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 #Orders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13,414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7,282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37,061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4,619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59,575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 Orders CL Pre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0.9%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2.4%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0.3%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7.0%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 Orders CL Post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0.8%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2.4%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0.3%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7.1%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ept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-7.8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-7.9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-3.6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+3.5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pickup time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-5.9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E4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-5.9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E4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-4.3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-0.7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BF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high preptimes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-1.5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-1.0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-2.5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-2.4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DE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+0.8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BE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AWT10 causal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+0.5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+1.5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8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awt_null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+4.5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awt_0min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-11.1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2C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-18.1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-10.9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CD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-19.6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-16.8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awt_1_3min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awt_4plus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+14.5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81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+18.4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+10.4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A5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+15.4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+15.3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27/Jul-09/Aug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11/Aug-24/Aug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03/Aug-16/Aug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07/Aug-20/Aug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17/Aug-24/Aug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Post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10/Aug-23/Aug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25/Aug-07/Sep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17/Aug-30/Aug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21/Aug-03/Sep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31/Aug-07/Sep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Performance Semanal 2026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32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32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 txBox="1"/>
          <p:nvPr/>
        </p:nvSpPr>
        <p:spPr>
          <a:xfrm>
            <a:off x="210100" y="451025"/>
            <a:ext cx="88857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0050"/>
              </a:buClr>
              <a:buSzPts val="3100"/>
              <a:buFont typeface="Lato Black"/>
              <a:buNone/>
            </a:pPr>
            <a:r>
              <a:rPr b="1" lang="en" sz="2100">
                <a:solidFill>
                  <a:srgbClr val="FA0050"/>
                </a:solidFill>
                <a:latin typeface="Poppins"/>
                <a:ea typeface="Poppins"/>
                <a:cs typeface="Poppins"/>
                <a:sym typeface="Poppins"/>
              </a:rPr>
              <a:t>LAST WAVES </a:t>
            </a:r>
            <a:r>
              <a:rPr b="1" lang="en" sz="21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RESTAURANTES</a:t>
            </a:r>
            <a:endParaRPr b="1" sz="210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95" name="Google Shape;195;p32"/>
          <p:cNvGraphicFramePr/>
          <p:nvPr/>
        </p:nvGraphicFramePr>
        <p:xfrm>
          <a:off x="0" y="97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{D38C1C0A-296B-4980-B9CB-A42D590D89ED}</a:tableStyleId>
              </a:tblPr>
              <a:tblGrid>
                <a:gridCol w="1743075"/>
                <a:gridCol w="1057275"/>
                <a:gridCol w="1057275"/>
                <a:gridCol w="1057275"/>
                <a:gridCol w="1057275"/>
                <a:gridCol w="10572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metric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W11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W12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Week36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franchises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98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vendors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180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523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426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días evaluados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Post #Orders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27,310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8,176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57,956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7,701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93,661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 #Orders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28,751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7,749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57,169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6,894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85,806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 Orders CL Pre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1.8%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3.7%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10.1%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% Orders CL Post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1.8%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3.7%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0.5%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10.2%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ept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-7.3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-8.5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-3.9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+3.5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+2.3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pickup time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-0.4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-6.6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1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-5.3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6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BF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high preptimes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-1.0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-1.0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-2.5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1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+0.5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AWT10 causal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B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awt_null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+4.4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awt_0min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-12.4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4C6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-18.1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-9.9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0D2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-16.0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-17.4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awt_1_3min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-2.0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-4.6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Δ awt_4plus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+12.5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92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+18.4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+10.6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A3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+15.3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+15.6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27/Jul-09/Aug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11/Aug-24/Aug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03/Aug-16/Aug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07/Aug-20/Aug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17/Aug-24/Aug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Post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10/Aug-23/Aug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25/Aug-07/Sep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17/Aug-30/Aug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21/Aug-03/Sep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31/Aug-07/Sep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/>
        </p:nvSpPr>
        <p:spPr>
          <a:xfrm>
            <a:off x="691425" y="114425"/>
            <a:ext cx="13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utfit"/>
                <a:ea typeface="Outfit"/>
                <a:cs typeface="Outfit"/>
                <a:sym typeface="Outfit"/>
              </a:rPr>
              <a:t>Performance Semanal 2026</a:t>
            </a:r>
            <a:endParaRPr sz="600">
              <a:solidFill>
                <a:srgbClr val="66666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01" name="Google Shape;201;p33"/>
          <p:cNvCxnSpPr/>
          <p:nvPr/>
        </p:nvCxnSpPr>
        <p:spPr>
          <a:xfrm>
            <a:off x="11379" y="344300"/>
            <a:ext cx="913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2" name="Google Shape;202;p33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247125" y="83675"/>
            <a:ext cx="163925" cy="1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 txBox="1"/>
          <p:nvPr/>
        </p:nvSpPr>
        <p:spPr>
          <a:xfrm>
            <a:off x="210100" y="451025"/>
            <a:ext cx="88857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0050"/>
              </a:buClr>
              <a:buSzPts val="3100"/>
              <a:buFont typeface="Lato Black"/>
              <a:buNone/>
            </a:pPr>
            <a:r>
              <a:rPr b="1" lang="en" sz="2100">
                <a:solidFill>
                  <a:srgbClr val="FA0050"/>
                </a:solidFill>
                <a:latin typeface="Poppins"/>
                <a:ea typeface="Poppins"/>
                <a:cs typeface="Poppins"/>
                <a:sym typeface="Poppins"/>
              </a:rPr>
              <a:t>LAST WAVES </a:t>
            </a:r>
            <a:r>
              <a:rPr b="1" lang="en" sz="21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RESTAURANTES - Impact CL</a:t>
            </a:r>
            <a:endParaRPr b="1" sz="21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04" name="Google Shape;204;p33"/>
          <p:cNvGraphicFramePr/>
          <p:nvPr/>
        </p:nvGraphicFramePr>
        <p:xfrm>
          <a:off x="1265400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{D38C1C0A-296B-4980-B9CB-A42D590D89ED}</a:tableStyleId>
              </a:tblPr>
              <a:tblGrid>
                <a:gridCol w="1190625"/>
                <a:gridCol w="866775"/>
                <a:gridCol w="866775"/>
                <a:gridCol w="866775"/>
                <a:gridCol w="866775"/>
                <a:gridCol w="866775"/>
              </a:tblGrid>
              <a:tr h="323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metric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W11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W12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Week34 mini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Week36</a:t>
                      </a:r>
                      <a:endParaRPr b="1" sz="1000">
                        <a:solidFill>
                          <a:srgbClr val="FFFFFF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044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ept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-0.35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-0.51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pickup time (min)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DB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9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-0.23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high preptimes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1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-0.01</a:t>
                      </a:r>
                      <a:endParaRPr b="1"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8D5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AWT10 causal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0.00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5E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awt_null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+0.07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awt_0min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-0.28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-0.54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-0.10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-1.75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awt_1_3min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-0.05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-0.03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-0.01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-0.02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D293B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awt_4plus (pp)</a:t>
                      </a:r>
                      <a:endParaRPr b="1" sz="1000">
                        <a:solidFill>
                          <a:srgbClr val="1D293B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+0.29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+0.10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+0.46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+0.08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Outfit"/>
                          <a:ea typeface="Outfit"/>
                          <a:cs typeface="Outfit"/>
                          <a:sym typeface="Outfit"/>
                        </a:rPr>
                        <a:t>+1.64</a:t>
                      </a:r>
                      <a:endParaRPr sz="10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19050" marB="19050" marR="28575" marL="28575" anchor="b">
                    <a:lnL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E1E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