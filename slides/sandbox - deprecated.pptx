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y="5143500" cx="9144000"/>
  <p:notesSz cx="6858000" cy="9144000"/>
  <p:embeddedFontLst>
    <p:embeddedFont>
      <p:font typeface="Outfit ExtraBold"/>
      <p:bold r:id="rId93"/>
    </p:embeddedFont>
    <p:embeddedFont>
      <p:font typeface="Poppins"/>
      <p:regular r:id="rId94"/>
      <p:bold r:id="rId95"/>
      <p:italic r:id="rId96"/>
      <p:boldItalic r:id="rId97"/>
    </p:embeddedFont>
    <p:embeddedFont>
      <p:font typeface="Lato"/>
      <p:regular r:id="rId98"/>
      <p:bold r:id="rId99"/>
      <p:italic r:id="rId100"/>
      <p:boldItalic r:id="rId101"/>
    </p:embeddedFont>
    <p:embeddedFont>
      <p:font typeface="Outfit"/>
      <p:regular r:id="rId102"/>
      <p:bold r:id="rId103"/>
    </p:embeddedFont>
    <p:embeddedFont>
      <p:font typeface="Outfit SemiBold"/>
      <p:regular r:id="rId104"/>
      <p:bold r:id="rId105"/>
    </p:embeddedFont>
    <p:embeddedFont>
      <p:font typeface="Outfit Medium"/>
      <p:regular r:id="rId106"/>
      <p:bold r:id="rId10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7D233A-DCCE-491D-A815-6E57D5C6E797}">
  <a:tblStyle styleId="{3E7D233A-DCCE-491D-A815-6E57D5C6E7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E5ADCB0-A164-41CA-AC8A-ECBC1A86115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B4A28873-30BD-423C-B209-231E7F0A251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OutfitMedium-bold.fntdata"/><Relationship Id="rId106" Type="http://schemas.openxmlformats.org/officeDocument/2006/relationships/font" Target="fonts/OutfitMedium-regular.fntdata"/><Relationship Id="rId105" Type="http://schemas.openxmlformats.org/officeDocument/2006/relationships/font" Target="fonts/OutfitSemiBold-bold.fntdata"/><Relationship Id="rId104" Type="http://schemas.openxmlformats.org/officeDocument/2006/relationships/font" Target="fonts/OutfitSemiBold-regular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Outfit-bold.fntdata"/><Relationship Id="rId102" Type="http://schemas.openxmlformats.org/officeDocument/2006/relationships/font" Target="fonts/Outfit-regular.fntdata"/><Relationship Id="rId101" Type="http://schemas.openxmlformats.org/officeDocument/2006/relationships/font" Target="fonts/Lato-boldItalic.fntdata"/><Relationship Id="rId100" Type="http://schemas.openxmlformats.org/officeDocument/2006/relationships/font" Target="fonts/Lato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Poppins-bold.fntdata"/><Relationship Id="rId94" Type="http://schemas.openxmlformats.org/officeDocument/2006/relationships/font" Target="fonts/Poppins-regular.fntdata"/><Relationship Id="rId97" Type="http://schemas.openxmlformats.org/officeDocument/2006/relationships/font" Target="fonts/Poppins-boldItalic.fntdata"/><Relationship Id="rId96" Type="http://schemas.openxmlformats.org/officeDocument/2006/relationships/font" Target="fonts/Poppins-italic.fntdata"/><Relationship Id="rId11" Type="http://schemas.openxmlformats.org/officeDocument/2006/relationships/slide" Target="slides/slide5.xml"/><Relationship Id="rId99" Type="http://schemas.openxmlformats.org/officeDocument/2006/relationships/font" Target="fonts/Lato-bold.fntdata"/><Relationship Id="rId10" Type="http://schemas.openxmlformats.org/officeDocument/2006/relationships/slide" Target="slides/slide4.xml"/><Relationship Id="rId98" Type="http://schemas.openxmlformats.org/officeDocument/2006/relationships/font" Target="fonts/Lat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OutfitExtraBold-bold.fntdata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yrgDn-5YqszsmvHgn0cM34hbSF3gSRt44mXqvztkZgI/edit?gid=0#gid=0" TargetMode="Externa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yrgDn-5YqszsmvHgn0cM34hbSF3gSRt44mXqvztkZgI/edit?gid=0#gid=0" TargetMode="Externa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0925e4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0925e4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0925e40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0925e40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0925e40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a0925e40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0925e4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a0925e4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0925e40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fa0925e40d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0925e4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a0925e40d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0925e40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a0925e40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0925e40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0925e40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0925e40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a0925e40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a0925e40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a0925e40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a0925e40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a0925e40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0925e40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a0925e40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a0925e40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a0925e40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a0925e40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a0925e40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a0925e40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a0925e40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a0925e40d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a0925e40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a0925e40d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a0925e40d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a0925e40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a0925e40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925e40d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a0925e40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a0925e40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a0925e40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a0925e40d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a0925e40d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a0925e40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a0925e40d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a0925e40d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a0925e40d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a0925e40d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a0925e40d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a0925e40d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a0925e40d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409b072cd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409b072cd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409b072cdd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409b072cdd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409b072cdd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409b072cdd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409b072cdd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409b072cdd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409b072cdd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409b072cdd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409b072cdd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409b072cdd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409b072cdd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409b072cdd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409b072cdd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409b072cdd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409b072cdd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409b072cdd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409b072cdd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409b072cdd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409b072cd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409b072cd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409b072cdd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409b072cdd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409b072cdd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409b072cdd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09b072cdd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09b072cdd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409b072cdd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409b072cdd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409b072cdd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409b072cdd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409b072cdd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409b072cdd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409b072cdd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409b072cdd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409b072cdd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409b072cdd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09b072cdd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09b072cdd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409b072cdd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409b072cdd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409b072cdd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409b072cdd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409b072cdd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409b072cdd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409b072cdd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409b072cdd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409b072cdd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409b072cdd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409b072cdd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409b072cdd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409b072cdd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409b072cdd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409b072cdd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409b072cdd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409b072cdd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409b072cdd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409b072cdd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409b072cdd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09b072cdd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409b072cdd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409b072cdd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409b072cdd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Crecimientos: 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Revisar sesiones y CVR de perfiles espejos. Sorting, visibilidad.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Notificaciones push con marketing para avisar a usuarios que no encontraron lo que buscaban.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Agregar new users.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409b072cdd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409b072cdd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Crecimientos: 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Revisar sesiones y CVR de perfiles espejos. Sorting, visibilidad.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Notificaciones push con marketing para avisar a usuarios que no encontraron lo que buscaban.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Agregar new users.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409b072cdd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409b072cdd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Crecimientos: 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Revisar sesiones y CVR de perfiles espejos. Sorting, visibilidad.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Notificaciones push con marketing para avisar a usuarios que no encontraron lo que buscaban.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Agregar new users.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409b072cdd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409b072cdd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Crecimientos: 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Revisar sesiones y CVR de perfiles espejos. Sorting, visibilidad.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Notificaciones push con marketing para avisar a usuarios que no encontraron lo que buscaban.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Agregar new users.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409b072cdd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409b072cdd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Trigger Performance McDonald's - Google Sheets</a:t>
            </a:r>
            <a:r>
              <a:rPr lang="en">
                <a:solidFill>
                  <a:schemeClr val="dk1"/>
                </a:solidFill>
              </a:rPr>
              <a:t> 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409b072cdd4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409b072cdd4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Trigger Performance McDonald's - Google Sheets</a:t>
            </a:r>
            <a:r>
              <a:rPr lang="en">
                <a:solidFill>
                  <a:schemeClr val="dk1"/>
                </a:solidFill>
              </a:rPr>
              <a:t> </a:t>
            </a:r>
            <a:endParaRPr b="1" i="1" sz="10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409b072cdd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409b072cdd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409b072cdd4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409b072cdd4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409b072cdd4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409b072cdd4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409b072cdd4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409b072cdd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409b072cdd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409b072cdd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409b072cdd4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409b072cdd4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409b072cdd4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409b072cdd4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409b072cdd4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409b072cdd4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409b072cdd4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409b072cdd4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409b072cdd4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409b072cdd4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409b072cdd4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409b072cdd4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409b072cdd4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409b072cdd4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409b072cdd4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409b072cdd4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409b072cdd4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409b072cdd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409b072cdd4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409b072cdd4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409b072cdd4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409b072cdd4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409b072cdd4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409b072cdd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409b072cdd4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409b072cdd4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409b072cdd4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409b072cdd4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409b072cdd4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409b072cdd4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409b072cdd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409b072cdd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409b072cdd4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409b072cdd4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409b072cdd4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409b072cdd4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409b072cdd4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409b072cdd4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11" Type="http://schemas.openxmlformats.org/officeDocument/2006/relationships/image" Target="../media/image28.png"/><Relationship Id="rId10" Type="http://schemas.openxmlformats.org/officeDocument/2006/relationships/image" Target="../media/image6.png"/><Relationship Id="rId21" Type="http://schemas.openxmlformats.org/officeDocument/2006/relationships/image" Target="../media/image25.png"/><Relationship Id="rId13" Type="http://schemas.openxmlformats.org/officeDocument/2006/relationships/image" Target="../media/image2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5.png"/><Relationship Id="rId15" Type="http://schemas.openxmlformats.org/officeDocument/2006/relationships/image" Target="../media/image1.png"/><Relationship Id="rId14" Type="http://schemas.openxmlformats.org/officeDocument/2006/relationships/image" Target="../media/image22.png"/><Relationship Id="rId17" Type="http://schemas.openxmlformats.org/officeDocument/2006/relationships/image" Target="../media/image9.png"/><Relationship Id="rId16" Type="http://schemas.openxmlformats.org/officeDocument/2006/relationships/image" Target="../media/image12.png"/><Relationship Id="rId5" Type="http://schemas.openxmlformats.org/officeDocument/2006/relationships/image" Target="../media/image3.png"/><Relationship Id="rId19" Type="http://schemas.openxmlformats.org/officeDocument/2006/relationships/image" Target="../media/image16.png"/><Relationship Id="rId6" Type="http://schemas.openxmlformats.org/officeDocument/2006/relationships/image" Target="../media/image10.png"/><Relationship Id="rId18" Type="http://schemas.openxmlformats.org/officeDocument/2006/relationships/image" Target="../media/image17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83.png"/><Relationship Id="rId7" Type="http://schemas.openxmlformats.org/officeDocument/2006/relationships/image" Target="../media/image54.png"/><Relationship Id="rId8" Type="http://schemas.openxmlformats.org/officeDocument/2006/relationships/image" Target="../media/image5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7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6.png"/><Relationship Id="rId4" Type="http://schemas.openxmlformats.org/officeDocument/2006/relationships/image" Target="../media/image7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hyperlink" Target="https://docs.google.com/presentation/d/1jLUllRauBcYhU_dIOdyU5CuAUHXuNSEXWDOouad3FA8/edit?slide=id.g3fd34f5d154_2_0#slide=id.g3fd34f5d154_2_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75" y="152400"/>
            <a:ext cx="831844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1844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1844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1844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428625" y="321469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Impacto en Tiempos de Preparación</a:t>
            </a:r>
            <a:endParaRPr sz="1100"/>
          </a:p>
        </p:txBody>
      </p:sp>
      <p:sp>
        <p:nvSpPr>
          <p:cNvPr id="76" name="Google Shape;76;p17"/>
          <p:cNvSpPr txBox="1"/>
          <p:nvPr/>
        </p:nvSpPr>
        <p:spPr>
          <a:xfrm>
            <a:off x="428625" y="828675"/>
            <a:ext cx="828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Resumen de reducciones de EPT aplicadas el </a:t>
            </a:r>
            <a:r>
              <a:rPr b="1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miércoles 29</a:t>
            </a: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julio en franquicias clave.</a:t>
            </a:r>
            <a:endParaRPr sz="1100"/>
          </a:p>
        </p:txBody>
      </p:sp>
      <p:grpSp>
        <p:nvGrpSpPr>
          <p:cNvPr id="77" name="Google Shape;77;p17"/>
          <p:cNvGrpSpPr/>
          <p:nvPr/>
        </p:nvGrpSpPr>
        <p:grpSpPr>
          <a:xfrm>
            <a:off x="428625" y="1381125"/>
            <a:ext cx="8286900" cy="2857650"/>
            <a:chOff x="428625" y="1381125"/>
            <a:chExt cx="8286900" cy="2857650"/>
          </a:xfrm>
        </p:grpSpPr>
        <p:grpSp>
          <p:nvGrpSpPr>
            <p:cNvPr id="78" name="Google Shape;78;p17"/>
            <p:cNvGrpSpPr/>
            <p:nvPr/>
          </p:nvGrpSpPr>
          <p:grpSpPr>
            <a:xfrm>
              <a:off x="428625" y="1381125"/>
              <a:ext cx="8286900" cy="857400"/>
              <a:chOff x="0" y="0"/>
              <a:chExt cx="8286900" cy="857400"/>
            </a:xfrm>
          </p:grpSpPr>
          <p:sp>
            <p:nvSpPr>
              <p:cNvPr id="79" name="Google Shape;79;p17"/>
              <p:cNvSpPr/>
              <p:nvPr/>
            </p:nvSpPr>
            <p:spPr>
              <a:xfrm>
                <a:off x="0" y="0"/>
                <a:ext cx="82869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7"/>
              <p:cNvSpPr/>
              <p:nvPr/>
            </p:nvSpPr>
            <p:spPr>
              <a:xfrm>
                <a:off x="0" y="0"/>
                <a:ext cx="57300" cy="8574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7"/>
              <p:cNvSpPr txBox="1"/>
              <p:nvPr/>
            </p:nvSpPr>
            <p:spPr>
              <a:xfrm>
                <a:off x="228600" y="171450"/>
                <a:ext cx="2381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Botillería Moscú</a:t>
                </a:r>
                <a:endParaRPr b="1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2" name="Google Shape;82;p17"/>
              <p:cNvSpPr txBox="1"/>
              <p:nvPr/>
            </p:nvSpPr>
            <p:spPr>
              <a:xfrm>
                <a:off x="228600" y="457200"/>
                <a:ext cx="1143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8100" lIns="76200" spcFirstLastPara="1" rIns="7620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40AF"/>
                    </a:solidFill>
                    <a:highlight>
                      <a:srgbClr val="DBEAFE"/>
                    </a:highlight>
                    <a:latin typeface="Lato"/>
                    <a:ea typeface="Lato"/>
                    <a:cs typeface="Lato"/>
                    <a:sym typeface="Lato"/>
                  </a:rPr>
                  <a:t>4 locales</a:t>
                </a:r>
                <a:endParaRPr b="1" sz="900">
                  <a:solidFill>
                    <a:srgbClr val="1E40AF"/>
                  </a:solidFill>
                  <a:highlight>
                    <a:srgbClr val="DBEAFE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" name="Google Shape;83;p17"/>
              <p:cNvSpPr txBox="1"/>
              <p:nvPr/>
            </p:nvSpPr>
            <p:spPr>
              <a:xfrm>
                <a:off x="2762250" y="152400"/>
                <a:ext cx="2476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Tiempo de Preparación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10.3 min </a:t>
                </a:r>
                <a:r>
                  <a:rPr b="1" lang="en" sz="140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→</a:t>
                </a:r>
                <a:r>
                  <a:rPr b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b="1" i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5.0 min</a:t>
                </a:r>
                <a:endParaRPr b="1" i="1" sz="14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" name="Google Shape;84;p17"/>
              <p:cNvSpPr txBox="1"/>
              <p:nvPr/>
            </p:nvSpPr>
            <p:spPr>
              <a:xfrm>
                <a:off x="5429250" y="152400"/>
                <a:ext cx="1238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Reducción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Lato"/>
                    <a:ea typeface="Lato"/>
                    <a:cs typeface="Lato"/>
                    <a:sym typeface="Lato"/>
                  </a:rPr>
                  <a:t>↓ 5.3 min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" name="Google Shape;85;p17"/>
              <p:cNvSpPr txBox="1"/>
              <p:nvPr/>
            </p:nvSpPr>
            <p:spPr>
              <a:xfrm>
                <a:off x="6858000" y="152400"/>
                <a:ext cx="1238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Porcentaje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Lato"/>
                    <a:ea typeface="Lato"/>
                    <a:cs typeface="Lato"/>
                    <a:sym typeface="Lato"/>
                  </a:rPr>
                  <a:t>↓ 51.5%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" name="Google Shape;86;p17"/>
            <p:cNvGrpSpPr/>
            <p:nvPr/>
          </p:nvGrpSpPr>
          <p:grpSpPr>
            <a:xfrm>
              <a:off x="428625" y="2381250"/>
              <a:ext cx="8286900" cy="857400"/>
              <a:chOff x="0" y="0"/>
              <a:chExt cx="8286900" cy="857400"/>
            </a:xfrm>
          </p:grpSpPr>
          <p:sp>
            <p:nvSpPr>
              <p:cNvPr id="87" name="Google Shape;87;p17"/>
              <p:cNvSpPr/>
              <p:nvPr/>
            </p:nvSpPr>
            <p:spPr>
              <a:xfrm>
                <a:off x="0" y="0"/>
                <a:ext cx="82869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7"/>
              <p:cNvSpPr/>
              <p:nvPr/>
            </p:nvSpPr>
            <p:spPr>
              <a:xfrm>
                <a:off x="0" y="0"/>
                <a:ext cx="57300" cy="8574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7"/>
              <p:cNvSpPr txBox="1"/>
              <p:nvPr/>
            </p:nvSpPr>
            <p:spPr>
              <a:xfrm>
                <a:off x="228600" y="171450"/>
                <a:ext cx="2381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El Carnicero</a:t>
                </a:r>
                <a:endParaRPr b="1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0" name="Google Shape;90;p17"/>
              <p:cNvSpPr txBox="1"/>
              <p:nvPr/>
            </p:nvSpPr>
            <p:spPr>
              <a:xfrm>
                <a:off x="228600" y="457200"/>
                <a:ext cx="1143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8100" lIns="76200" spcFirstLastPara="1" rIns="7620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40AF"/>
                    </a:solidFill>
                    <a:highlight>
                      <a:srgbClr val="DBEAFE"/>
                    </a:highlight>
                    <a:latin typeface="Lato"/>
                    <a:ea typeface="Lato"/>
                    <a:cs typeface="Lato"/>
                    <a:sym typeface="Lato"/>
                  </a:rPr>
                  <a:t>15 locales</a:t>
                </a:r>
                <a:endParaRPr b="1" sz="900">
                  <a:solidFill>
                    <a:srgbClr val="1E40AF"/>
                  </a:solidFill>
                  <a:highlight>
                    <a:srgbClr val="DBEAFE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17"/>
              <p:cNvSpPr txBox="1"/>
              <p:nvPr/>
            </p:nvSpPr>
            <p:spPr>
              <a:xfrm>
                <a:off x="2762250" y="152400"/>
                <a:ext cx="2476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Tiempo de Preparación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17.1 min </a:t>
                </a:r>
                <a:r>
                  <a:rPr b="1" lang="en" sz="140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→</a:t>
                </a:r>
                <a:r>
                  <a:rPr b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b="1" i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10.0 min</a:t>
                </a:r>
                <a:endParaRPr b="1" i="1" sz="14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17"/>
              <p:cNvSpPr txBox="1"/>
              <p:nvPr/>
            </p:nvSpPr>
            <p:spPr>
              <a:xfrm>
                <a:off x="5429250" y="152400"/>
                <a:ext cx="1238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Reducción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Lato"/>
                    <a:ea typeface="Lato"/>
                    <a:cs typeface="Lato"/>
                    <a:sym typeface="Lato"/>
                  </a:rPr>
                  <a:t>↓ 7.1 min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17"/>
              <p:cNvSpPr txBox="1"/>
              <p:nvPr/>
            </p:nvSpPr>
            <p:spPr>
              <a:xfrm>
                <a:off x="6858000" y="152400"/>
                <a:ext cx="1238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Porcentaje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Lato"/>
                    <a:ea typeface="Lato"/>
                    <a:cs typeface="Lato"/>
                    <a:sym typeface="Lato"/>
                  </a:rPr>
                  <a:t>↓ 41.5%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4" name="Google Shape;94;p17"/>
            <p:cNvGrpSpPr/>
            <p:nvPr/>
          </p:nvGrpSpPr>
          <p:grpSpPr>
            <a:xfrm>
              <a:off x="428625" y="3381375"/>
              <a:ext cx="8286900" cy="857400"/>
              <a:chOff x="0" y="0"/>
              <a:chExt cx="8286900" cy="857400"/>
            </a:xfrm>
          </p:grpSpPr>
          <p:sp>
            <p:nvSpPr>
              <p:cNvPr id="95" name="Google Shape;95;p17"/>
              <p:cNvSpPr/>
              <p:nvPr/>
            </p:nvSpPr>
            <p:spPr>
              <a:xfrm>
                <a:off x="0" y="0"/>
                <a:ext cx="82869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>
                <a:off x="0" y="0"/>
                <a:ext cx="57300" cy="8574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7"/>
              <p:cNvSpPr txBox="1"/>
              <p:nvPr/>
            </p:nvSpPr>
            <p:spPr>
              <a:xfrm>
                <a:off x="228600" y="171450"/>
                <a:ext cx="2381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Petrobras</a:t>
                </a:r>
                <a:endParaRPr b="1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" name="Google Shape;98;p17"/>
              <p:cNvSpPr txBox="1"/>
              <p:nvPr/>
            </p:nvSpPr>
            <p:spPr>
              <a:xfrm>
                <a:off x="228600" y="457200"/>
                <a:ext cx="1143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8100" lIns="76200" spcFirstLastPara="1" rIns="7620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40AF"/>
                    </a:solidFill>
                    <a:highlight>
                      <a:srgbClr val="DBEAFE"/>
                    </a:highlight>
                    <a:latin typeface="Lato"/>
                    <a:ea typeface="Lato"/>
                    <a:cs typeface="Lato"/>
                    <a:sym typeface="Lato"/>
                  </a:rPr>
                  <a:t>87 locales</a:t>
                </a:r>
                <a:endParaRPr b="1" sz="900">
                  <a:solidFill>
                    <a:srgbClr val="1E40AF"/>
                  </a:solidFill>
                  <a:highlight>
                    <a:srgbClr val="DBEAFE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" name="Google Shape;99;p17"/>
              <p:cNvSpPr txBox="1"/>
              <p:nvPr/>
            </p:nvSpPr>
            <p:spPr>
              <a:xfrm>
                <a:off x="2762250" y="152400"/>
                <a:ext cx="2476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Tiempo de Preparación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8.6 min </a:t>
                </a:r>
                <a:r>
                  <a:rPr b="1" lang="en" sz="140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→</a:t>
                </a:r>
                <a:r>
                  <a:rPr b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b="1" i="1" lang="en" sz="1400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5.0 min</a:t>
                </a:r>
                <a:endParaRPr b="1" i="1" sz="14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" name="Google Shape;100;p17"/>
              <p:cNvSpPr txBox="1"/>
              <p:nvPr/>
            </p:nvSpPr>
            <p:spPr>
              <a:xfrm>
                <a:off x="5429250" y="152400"/>
                <a:ext cx="1238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Reducción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Lato"/>
                    <a:ea typeface="Lato"/>
                    <a:cs typeface="Lato"/>
                    <a:sym typeface="Lato"/>
                  </a:rPr>
                  <a:t>↓ 3.6 min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" name="Google Shape;101;p17"/>
              <p:cNvSpPr txBox="1"/>
              <p:nvPr/>
            </p:nvSpPr>
            <p:spPr>
              <a:xfrm>
                <a:off x="6858000" y="152400"/>
                <a:ext cx="1238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Porcentaje</a:t>
                </a:r>
                <a:endParaRPr b="1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Lato"/>
                    <a:ea typeface="Lato"/>
                    <a:cs typeface="Lato"/>
                    <a:sym typeface="Lato"/>
                  </a:rPr>
                  <a:t>↓ 41.9%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200150"/>
            <a:ext cx="8286750" cy="698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041661"/>
            <a:ext cx="4036219" cy="2900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9156" y="2041661"/>
            <a:ext cx="4036219" cy="290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428625" y="321469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Resultados Preliminares (Pre vs Post)</a:t>
            </a:r>
            <a:endParaRPr sz="1100"/>
          </a:p>
        </p:txBody>
      </p:sp>
      <p:sp>
        <p:nvSpPr>
          <p:cNvPr id="111" name="Google Shape;111;p18"/>
          <p:cNvSpPr txBox="1"/>
          <p:nvPr/>
        </p:nvSpPr>
        <p:spPr>
          <a:xfrm>
            <a:off x="428625" y="828675"/>
            <a:ext cx="828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Evaluación de impacto en métricas de tiempo y fricción tras los ajustes de EPT.</a:t>
            </a:r>
            <a:endParaRPr sz="1100"/>
          </a:p>
        </p:txBody>
      </p:sp>
      <p:sp>
        <p:nvSpPr>
          <p:cNvPr id="112" name="Google Shape;112;p18"/>
          <p:cNvSpPr/>
          <p:nvPr/>
        </p:nvSpPr>
        <p:spPr>
          <a:xfrm>
            <a:off x="4543425" y="1207293"/>
            <a:ext cx="57000" cy="684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162645" y="1321594"/>
            <a:ext cx="8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Alcance</a:t>
            </a:r>
            <a:endParaRPr b="1" i="0" sz="900" u="none" cap="none" strike="noStrike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9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106</a:t>
            </a:r>
            <a:r>
              <a:rPr b="1" i="0" lang="en" sz="9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Locales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3 Franquicias</a:t>
            </a:r>
            <a:endParaRPr sz="1100"/>
          </a:p>
        </p:txBody>
      </p:sp>
      <p:sp>
        <p:nvSpPr>
          <p:cNvPr id="114" name="Google Shape;114;p18"/>
          <p:cNvSpPr txBox="1"/>
          <p:nvPr/>
        </p:nvSpPr>
        <p:spPr>
          <a:xfrm>
            <a:off x="3066455" y="1321594"/>
            <a:ext cx="87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Periodo Pre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22 - 23 Jul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862 Órdenes</a:t>
            </a:r>
            <a:endParaRPr sz="1100"/>
          </a:p>
        </p:txBody>
      </p:sp>
      <p:sp>
        <p:nvSpPr>
          <p:cNvPr id="115" name="Google Shape;115;p18"/>
          <p:cNvSpPr txBox="1"/>
          <p:nvPr/>
        </p:nvSpPr>
        <p:spPr>
          <a:xfrm>
            <a:off x="4963120" y="1321594"/>
            <a:ext cx="8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Periodo Post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29 - 30 Jul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922 Órdenes</a:t>
            </a:r>
            <a:endParaRPr sz="1100"/>
          </a:p>
        </p:txBody>
      </p:sp>
      <p:sp>
        <p:nvSpPr>
          <p:cNvPr id="116" name="Google Shape;116;p18"/>
          <p:cNvSpPr txBox="1"/>
          <p:nvPr/>
        </p:nvSpPr>
        <p:spPr>
          <a:xfrm>
            <a:off x="6866930" y="1321594"/>
            <a:ext cx="111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Ventana Analizada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 </a:t>
            </a:r>
            <a:r>
              <a:rPr b="1" lang="en" sz="9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b="1" i="0" lang="en" sz="9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ías</a:t>
            </a:r>
            <a:r>
              <a:rPr b="0" i="0" lang="en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Post-ajuste</a:t>
            </a:r>
            <a:endParaRPr sz="1100"/>
          </a:p>
        </p:txBody>
      </p:sp>
      <p:sp>
        <p:nvSpPr>
          <p:cNvPr id="117" name="Google Shape;117;p18"/>
          <p:cNvSpPr txBox="1"/>
          <p:nvPr/>
        </p:nvSpPr>
        <p:spPr>
          <a:xfrm>
            <a:off x="650081" y="2191680"/>
            <a:ext cx="37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Métricas de Tiempo (Minutos)</a:t>
            </a:r>
            <a:endParaRPr sz="1100"/>
          </a:p>
        </p:txBody>
      </p:sp>
      <p:sp>
        <p:nvSpPr>
          <p:cNvPr id="118" name="Google Shape;118;p18"/>
          <p:cNvSpPr/>
          <p:nvPr/>
        </p:nvSpPr>
        <p:spPr>
          <a:xfrm>
            <a:off x="650081" y="2463143"/>
            <a:ext cx="3593400" cy="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00613" y="2191680"/>
            <a:ext cx="37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Calidad y Fricción (Puntos Porcentuales)</a:t>
            </a:r>
            <a:endParaRPr sz="1100"/>
          </a:p>
        </p:txBody>
      </p:sp>
      <p:sp>
        <p:nvSpPr>
          <p:cNvPr id="120" name="Google Shape;120;p18"/>
          <p:cNvSpPr/>
          <p:nvPr/>
        </p:nvSpPr>
        <p:spPr>
          <a:xfrm>
            <a:off x="4900613" y="2463143"/>
            <a:ext cx="3593400" cy="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735806" y="2648880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Variación EPT</a:t>
            </a:r>
            <a:endParaRPr sz="1100"/>
          </a:p>
        </p:txBody>
      </p:sp>
      <p:sp>
        <p:nvSpPr>
          <p:cNvPr id="122" name="Google Shape;122;p18"/>
          <p:cNvSpPr txBox="1"/>
          <p:nvPr/>
        </p:nvSpPr>
        <p:spPr>
          <a:xfrm>
            <a:off x="735806" y="3027499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Variación AWT</a:t>
            </a:r>
            <a:endParaRPr sz="1100"/>
          </a:p>
        </p:txBody>
      </p:sp>
      <p:pic>
        <p:nvPicPr>
          <p:cNvPr descr="image.png" id="123" name="Google Shape;12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81" y="3348968"/>
            <a:ext cx="3593306" cy="32146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735806" y="3799024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Variación Pickup Time</a:t>
            </a:r>
            <a:endParaRPr sz="1100"/>
          </a:p>
        </p:txBody>
      </p:sp>
      <p:sp>
        <p:nvSpPr>
          <p:cNvPr id="125" name="Google Shape;125;p18"/>
          <p:cNvSpPr txBox="1"/>
          <p:nvPr/>
        </p:nvSpPr>
        <p:spPr>
          <a:xfrm>
            <a:off x="4986338" y="2648880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Órdenes Lentas (Slow)</a:t>
            </a:r>
            <a:endParaRPr sz="1100"/>
          </a:p>
        </p:txBody>
      </p:sp>
      <p:sp>
        <p:nvSpPr>
          <p:cNvPr id="126" name="Google Shape;126;p18"/>
          <p:cNvSpPr txBox="1"/>
          <p:nvPr/>
        </p:nvSpPr>
        <p:spPr>
          <a:xfrm>
            <a:off x="4986338" y="3027499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Non-Seamless</a:t>
            </a:r>
            <a:endParaRPr sz="1100"/>
          </a:p>
        </p:txBody>
      </p:sp>
      <p:sp>
        <p:nvSpPr>
          <p:cNvPr id="127" name="Google Shape;127;p18"/>
          <p:cNvSpPr txBox="1"/>
          <p:nvPr/>
        </p:nvSpPr>
        <p:spPr>
          <a:xfrm>
            <a:off x="4986338" y="3406118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Partner Performance</a:t>
            </a:r>
            <a:endParaRPr sz="1100"/>
          </a:p>
        </p:txBody>
      </p:sp>
      <p:sp>
        <p:nvSpPr>
          <p:cNvPr id="128" name="Google Shape;128;p18"/>
          <p:cNvSpPr txBox="1"/>
          <p:nvPr/>
        </p:nvSpPr>
        <p:spPr>
          <a:xfrm>
            <a:off x="4986338" y="3784736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Preptimes</a:t>
            </a:r>
            <a:endParaRPr sz="1100"/>
          </a:p>
        </p:txBody>
      </p:sp>
      <p:sp>
        <p:nvSpPr>
          <p:cNvPr id="129" name="Google Shape;129;p18"/>
          <p:cNvSpPr txBox="1"/>
          <p:nvPr/>
        </p:nvSpPr>
        <p:spPr>
          <a:xfrm>
            <a:off x="4986338" y="4163355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Prediction Model</a:t>
            </a:r>
            <a:endParaRPr sz="1100"/>
          </a:p>
        </p:txBody>
      </p:sp>
      <p:sp>
        <p:nvSpPr>
          <p:cNvPr id="130" name="Google Shape;130;p18"/>
          <p:cNvSpPr txBox="1"/>
          <p:nvPr/>
        </p:nvSpPr>
        <p:spPr>
          <a:xfrm>
            <a:off x="4986338" y="4541974"/>
            <a:ext cx="342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AWT &gt; 10 min</a:t>
            </a:r>
            <a:endParaRPr sz="1100"/>
          </a:p>
        </p:txBody>
      </p:sp>
      <p:pic>
        <p:nvPicPr>
          <p:cNvPr descr="image.png" id="131" name="Google Shape;13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14725" y="2648880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14725" y="3027499"/>
            <a:ext cx="642938" cy="19288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742950" y="3431120"/>
            <a:ext cx="152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Impacto Neto (EPT + AWT)</a:t>
            </a:r>
            <a:endParaRPr sz="1100"/>
          </a:p>
        </p:txBody>
      </p:sp>
      <p:pic>
        <p:nvPicPr>
          <p:cNvPr descr="image.png" id="134" name="Google Shape;13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07581" y="3413261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14725" y="3799024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65256" y="2648880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65256" y="3027499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65256" y="3406118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765256" y="3784736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36681" y="4163355"/>
            <a:ext cx="671513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765256" y="4541974"/>
            <a:ext cx="642938" cy="192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86188" y="2688170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786188" y="3066789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779044" y="3452552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86188" y="3838314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86700" y="2688170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86700" y="3066789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86700" y="3445408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86700" y="3824027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822406" y="4202645"/>
            <a:ext cx="8572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545" y="495620"/>
            <a:ext cx="3691526" cy="20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184538" y="141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Botillería Moscú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900" y="423800"/>
            <a:ext cx="3450724" cy="201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722888" y="851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Petrobras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1450" y="3005725"/>
            <a:ext cx="3201566" cy="18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3111442" y="2667025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El carnicero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691450" y="632975"/>
            <a:ext cx="792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SUMMIT LOG &amp; OPS</a:t>
            </a:r>
            <a:br>
              <a:rPr b="1" lang="en" sz="12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Sobreestimados: Oleadas de reducción</a:t>
            </a:r>
            <a:endParaRPr b="1"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91450" y="1591950"/>
            <a:ext cx="3292500" cy="2788200"/>
          </a:xfrm>
          <a:prstGeom prst="roundRect">
            <a:avLst>
              <a:gd fmla="val 3456" name="adj"/>
            </a:avLst>
          </a:prstGeom>
          <a:solidFill>
            <a:srgbClr val="FFFFFF"/>
          </a:solidFill>
          <a:ln cap="flat" cmpd="sng" w="1905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Estadísticas Generales: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●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8 waves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●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76 franchises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●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+1.400 vendors</a:t>
            </a:r>
            <a:b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●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34% de reducción de EPT promedio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●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-4.18pp en partner performance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725" y="1414250"/>
            <a:ext cx="2157928" cy="37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50" y="1385200"/>
            <a:ext cx="7877351" cy="33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625" y="1385200"/>
            <a:ext cx="3307150" cy="33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82" name="Google Shape;182;p21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3" name="Google Shape;183;p21"/>
          <p:cNvPicPr preferRelativeResize="0"/>
          <p:nvPr/>
        </p:nvPicPr>
        <p:blipFill rotWithShape="1">
          <a:blip r:embed="rId5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691450" y="632975"/>
            <a:ext cx="792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SUMMIT LOG &amp; OPS</a:t>
            </a:r>
            <a:br>
              <a:rPr b="1" lang="en" sz="12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En saturación, el EPT deja de representar el tiempo real</a:t>
            </a:r>
            <a:endParaRPr b="1"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981903" y="164567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Más órdenes recibidas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981903" y="227142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EA044E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Tienda saturada</a:t>
            </a:r>
            <a:endParaRPr sz="9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81903" y="289717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Preparación se </a:t>
            </a:r>
            <a:r>
              <a:rPr lang="en" sz="9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atrasa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981903" y="352292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Rider llega antes de tiempo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981903" y="4148675"/>
            <a:ext cx="2874600" cy="347700"/>
          </a:xfrm>
          <a:prstGeom prst="roundRect">
            <a:avLst>
              <a:gd fmla="val 16663" name="adj"/>
            </a:avLst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AWT y NS aumentan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5628" y="2060964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5628" y="2686701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5628" y="3312464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5628" y="3938214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6852075" y="2846825"/>
            <a:ext cx="45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+63%</a:t>
            </a:r>
            <a:endParaRPr b="1" sz="1300">
              <a:solidFill>
                <a:schemeClr val="accent1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7326150" y="2484363"/>
            <a:ext cx="45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-13pp</a:t>
            </a:r>
            <a:endParaRPr b="1" sz="1300">
              <a:solidFill>
                <a:schemeClr val="accent1"/>
              </a:solidFill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925750" y="47568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W28-29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04" name="Google Shape;204;p22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22"/>
          <p:cNvGrpSpPr/>
          <p:nvPr/>
        </p:nvGrpSpPr>
        <p:grpSpPr>
          <a:xfrm>
            <a:off x="2890706" y="1745310"/>
            <a:ext cx="1873740" cy="1338837"/>
            <a:chOff x="4075875" y="2263100"/>
            <a:chExt cx="1072425" cy="559200"/>
          </a:xfrm>
        </p:grpSpPr>
        <p:sp>
          <p:nvSpPr>
            <p:cNvPr id="207" name="Google Shape;207;p22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Con posibilidad de apertura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FF8159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grpSp>
        <p:nvGrpSpPr>
          <p:cNvPr id="209" name="Google Shape;209;p22"/>
          <p:cNvGrpSpPr/>
          <p:nvPr/>
        </p:nvGrpSpPr>
        <p:grpSpPr>
          <a:xfrm>
            <a:off x="2890706" y="3199808"/>
            <a:ext cx="1873740" cy="1338837"/>
            <a:chOff x="4075875" y="2263100"/>
            <a:chExt cx="1072425" cy="559200"/>
          </a:xfrm>
        </p:grpSpPr>
        <p:sp>
          <p:nvSpPr>
            <p:cNvPr id="210" name="Google Shape;210;p22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Sin posibilidad de apertura </a:t>
              </a:r>
              <a:endParaRPr b="1" i="1" sz="8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EA044E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sp>
        <p:nvSpPr>
          <p:cNvPr id="212" name="Google Shape;212;p22"/>
          <p:cNvSpPr/>
          <p:nvPr/>
        </p:nvSpPr>
        <p:spPr>
          <a:xfrm>
            <a:off x="5159725" y="1750700"/>
            <a:ext cx="3292500" cy="2788200"/>
          </a:xfrm>
          <a:prstGeom prst="roundRect">
            <a:avLst>
              <a:gd fmla="val 3456" name="adj"/>
            </a:avLst>
          </a:prstGeom>
          <a:solidFill>
            <a:srgbClr val="FFFFFF"/>
          </a:solidFill>
          <a:ln cap="flat" cmpd="sng" w="1905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¿Cómo funcionan?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 Umbrales de: 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423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Órdenes en cola.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423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Riders near store.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AWT mínimo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Una vez cruzados los 3 umbrales se activa el trigger.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100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Se setea por grade y/o franchise.</a:t>
            </a:r>
            <a:b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702213" y="1750612"/>
            <a:ext cx="1873740" cy="2788115"/>
            <a:chOff x="4075875" y="2263100"/>
            <a:chExt cx="1072425" cy="559200"/>
          </a:xfrm>
        </p:grpSpPr>
        <p:sp>
          <p:nvSpPr>
            <p:cNvPr id="214" name="Google Shape;214;p22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Adición de minutos al EPT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sp>
        <p:nvSpPr>
          <p:cNvPr id="216" name="Google Shape;216;p22"/>
          <p:cNvSpPr txBox="1"/>
          <p:nvPr/>
        </p:nvSpPr>
        <p:spPr>
          <a:xfrm>
            <a:off x="2982137" y="1414250"/>
            <a:ext cx="166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De cierre</a:t>
            </a:r>
            <a:endParaRPr>
              <a:solidFill>
                <a:srgbClr val="EA044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804525" y="1414300"/>
            <a:ext cx="166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High Demand Mode</a:t>
            </a:r>
            <a:endParaRPr>
              <a:solidFill>
                <a:srgbClr val="EA044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691442" y="632975"/>
            <a:ext cx="73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SUMMIT LOG &amp; OPS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Triggers / Cierre y HDM</a:t>
            </a:r>
            <a:endParaRPr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26" name="Google Shape;226;p23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691423" y="632975"/>
            <a:ext cx="637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SUMMIT LOG &amp; OPS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Triggers de cierre / </a:t>
            </a: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Orders bloqueadas</a:t>
            </a:r>
            <a:endParaRPr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050" y="1552250"/>
            <a:ext cx="5731576" cy="310525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7004025" y="4268375"/>
            <a:ext cx="18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W28-29</a:t>
            </a:r>
            <a:endParaRPr b="1" i="1"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31" name="Google Shape;231;p23"/>
          <p:cNvGraphicFramePr/>
          <p:nvPr/>
        </p:nvGraphicFramePr>
        <p:xfrm>
          <a:off x="6029475" y="151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795025"/>
                <a:gridCol w="1149725"/>
                <a:gridCol w="972375"/>
              </a:tblGrid>
              <a:tr h="40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posibilidad de apertura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 posibilidad de apertura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1,154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240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5,056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2,105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560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39" name="Google Shape;239;p24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691444" y="632975"/>
            <a:ext cx="768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SUMMIT LOG &amp; OPS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Triggers de Cierre / </a:t>
            </a: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Seamless en saturación cierre</a:t>
            </a:r>
            <a:endParaRPr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42" name="Google Shape;242;p24"/>
          <p:cNvGraphicFramePr/>
          <p:nvPr/>
        </p:nvGraphicFramePr>
        <p:xfrm>
          <a:off x="6811500" y="151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1015750"/>
                <a:gridCol w="1015750"/>
              </a:tblGrid>
              <a:tr h="5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Grade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en saturación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35%</a:t>
                      </a:r>
                      <a:endParaRPr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43%</a:t>
                      </a:r>
                      <a:endParaRPr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48%</a:t>
                      </a:r>
                      <a:endParaRPr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51%</a:t>
                      </a:r>
                      <a:endParaRPr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44%</a:t>
                      </a:r>
                      <a:endParaRPr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66%</a:t>
                      </a:r>
                      <a:endParaRPr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</a:tbl>
          </a:graphicData>
        </a:graphic>
      </p:graphicFrame>
      <p:pic>
        <p:nvPicPr>
          <p:cNvPr id="243" name="Google Shape;2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225" y="1341385"/>
            <a:ext cx="6173595" cy="308941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1536686" y="1993177"/>
            <a:ext cx="539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0" lIns="87750" spcFirstLastPara="1" rIns="87750" wrap="square" tIns="8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28">
                <a:solidFill>
                  <a:srgbClr val="FFFFFF"/>
                </a:solidFill>
              </a:rPr>
              <a:t>X</a:t>
            </a:r>
            <a:endParaRPr b="1" sz="1728">
              <a:solidFill>
                <a:srgbClr val="FFFFFF"/>
              </a:solidFill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3760037" y="1834500"/>
            <a:ext cx="539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0" lIns="87750" spcFirstLastPara="1" rIns="87750" wrap="square" tIns="8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28">
                <a:solidFill>
                  <a:srgbClr val="FFFFFF"/>
                </a:solidFill>
              </a:rPr>
              <a:t>X</a:t>
            </a:r>
            <a:endParaRPr b="1" sz="1728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53" name="Google Shape;253;p25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691441" y="632975"/>
            <a:ext cx="711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SUMMIT LOG &amp; OPS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Resultados / </a:t>
            </a: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Non-Seamless Evitado</a:t>
            </a:r>
            <a:endParaRPr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56" name="Google Shape;256;p25"/>
          <p:cNvGraphicFramePr/>
          <p:nvPr/>
        </p:nvGraphicFramePr>
        <p:xfrm>
          <a:off x="2175825" y="172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70350"/>
                <a:gridCol w="1207975"/>
                <a:gridCol w="1406025"/>
                <a:gridCol w="1207975"/>
              </a:tblGrid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273,240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202,708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74.19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bloqueadas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10,470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4,881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46.61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283,710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207,589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73.17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5"/>
          <p:cNvSpPr txBox="1"/>
          <p:nvPr/>
        </p:nvSpPr>
        <p:spPr>
          <a:xfrm>
            <a:off x="3379050" y="3526550"/>
            <a:ext cx="238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+1.02pp seamless</a:t>
            </a:r>
            <a:r>
              <a:rPr b="1" lang="en" sz="1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1800">
              <a:solidFill>
                <a:srgbClr val="FA005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 </a:t>
            </a:r>
            <a:r>
              <a:rPr b="1" lang="en">
                <a:latin typeface="Outfit"/>
                <a:ea typeface="Outfit"/>
                <a:cs typeface="Outfit"/>
                <a:sym typeface="Outfit"/>
              </a:rPr>
              <a:t>triggers de </a:t>
            </a:r>
            <a:r>
              <a:rPr b="1" lang="en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cierres</a:t>
            </a:r>
            <a:endParaRPr b="1" sz="18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3080825" y="41850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W28-29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en tiendas cerradas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66" name="Google Shape;266;p26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691441" y="632975"/>
            <a:ext cx="711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SUMMIT LOG &amp; OPS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Resultados / </a:t>
            </a: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Non-Seamless Evitado</a:t>
            </a:r>
            <a:endParaRPr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69" name="Google Shape;269;p26"/>
          <p:cNvGraphicFramePr/>
          <p:nvPr/>
        </p:nvGraphicFramePr>
        <p:xfrm>
          <a:off x="2175825" y="172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70350"/>
                <a:gridCol w="1207975"/>
                <a:gridCol w="1406025"/>
                <a:gridCol w="1207975"/>
              </a:tblGrid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231249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173525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75.038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bloqueadas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8562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4041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47.199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239811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177566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74.044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26"/>
          <p:cNvSpPr txBox="1"/>
          <p:nvPr/>
        </p:nvSpPr>
        <p:spPr>
          <a:xfrm>
            <a:off x="3379050" y="3526550"/>
            <a:ext cx="238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+0.99pp seamless</a:t>
            </a:r>
            <a:r>
              <a:rPr b="1" lang="en" sz="1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1800">
              <a:solidFill>
                <a:srgbClr val="FA005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 </a:t>
            </a:r>
            <a:r>
              <a:rPr b="1" lang="en">
                <a:latin typeface="Outfit"/>
                <a:ea typeface="Outfit"/>
                <a:cs typeface="Outfit"/>
                <a:sym typeface="Outfit"/>
              </a:rPr>
              <a:t>triggers de </a:t>
            </a:r>
            <a:r>
              <a:rPr b="1" lang="en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cierres</a:t>
            </a:r>
            <a:endParaRPr b="1" sz="18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3080825" y="41850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W29-30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en tiendas cerradas</a:t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7746475" y="1778050"/>
            <a:ext cx="887100" cy="14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%X de las ordenes CL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80" name="Google Shape;280;p27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91438" y="632975"/>
            <a:ext cx="619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SUMMIT LOG &amp; OPS</a:t>
            </a:r>
            <a:br>
              <a:rPr lang="en" sz="12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Triggers HDM / </a:t>
            </a: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Foco en grades</a:t>
            </a:r>
            <a:endParaRPr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A0050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4572000" y="1428750"/>
            <a:ext cx="4286400" cy="2952900"/>
          </a:xfrm>
          <a:prstGeom prst="roundRect">
            <a:avLst>
              <a:gd fmla="val 387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0" l="-913" r="13919" t="0"/>
          <a:stretch/>
        </p:blipFill>
        <p:spPr>
          <a:xfrm>
            <a:off x="4454225" y="1428750"/>
            <a:ext cx="4426200" cy="2952900"/>
          </a:xfrm>
          <a:prstGeom prst="roundRect">
            <a:avLst>
              <a:gd fmla="val 3870" name="adj"/>
            </a:avLst>
          </a:prstGeom>
          <a:noFill/>
          <a:ln>
            <a:noFill/>
          </a:ln>
        </p:spPr>
      </p:pic>
      <p:sp>
        <p:nvSpPr>
          <p:cNvPr id="285" name="Google Shape;285;p27"/>
          <p:cNvSpPr/>
          <p:nvPr/>
        </p:nvSpPr>
        <p:spPr>
          <a:xfrm>
            <a:off x="285750" y="1476375"/>
            <a:ext cx="38100" cy="809700"/>
          </a:xfrm>
          <a:prstGeom prst="roundRect">
            <a:avLst>
              <a:gd fmla="val 50000" name="adj"/>
            </a:avLst>
          </a:prstGeom>
          <a:solidFill>
            <a:srgbClr val="EA04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438150" y="1428750"/>
            <a:ext cx="3753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Marcas Clave Rediseñadas</a:t>
            </a:r>
            <a:endParaRPr b="1" sz="1300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C4359"/>
                </a:solidFill>
                <a:latin typeface="Outfit"/>
                <a:ea typeface="Outfit"/>
                <a:cs typeface="Outfit"/>
                <a:sym typeface="Outfit"/>
              </a:rPr>
              <a:t>McDonald’s, Papa John’s, Under Pizza, Melt y KFC ahora operan con triggers de saturación totalmente rediseñados.</a:t>
            </a:r>
            <a:endParaRPr b="0" sz="1050">
              <a:solidFill>
                <a:srgbClr val="4C43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285750" y="2524125"/>
            <a:ext cx="38100" cy="809700"/>
          </a:xfrm>
          <a:prstGeom prst="roundRect">
            <a:avLst>
              <a:gd fmla="val 50000" name="adj"/>
            </a:avLst>
          </a:prstGeom>
          <a:solidFill>
            <a:srgbClr val="EA04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438150" y="2476500"/>
            <a:ext cx="3753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Segmentación por Grade</a:t>
            </a:r>
            <a:endParaRPr b="1" sz="1300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C4359"/>
                </a:solidFill>
                <a:latin typeface="Outfit"/>
                <a:ea typeface="Outfit"/>
                <a:cs typeface="Outfit"/>
                <a:sym typeface="Outfit"/>
              </a:rPr>
              <a:t>Se eliminó la activación generalizada, implementando umbrales específicos y adaptados al volumen de cada partner.</a:t>
            </a:r>
            <a:endParaRPr b="0" sz="1050">
              <a:solidFill>
                <a:srgbClr val="4C43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285750" y="3571875"/>
            <a:ext cx="38100" cy="809700"/>
          </a:xfrm>
          <a:prstGeom prst="roundRect">
            <a:avLst>
              <a:gd fmla="val 50000" name="adj"/>
            </a:avLst>
          </a:prstGeom>
          <a:solidFill>
            <a:srgbClr val="EA04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438150" y="3524250"/>
            <a:ext cx="3753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Variables en Tiempo Real</a:t>
            </a:r>
            <a:endParaRPr b="1" sz="1300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C4359"/>
                </a:solidFill>
                <a:latin typeface="Outfit"/>
                <a:ea typeface="Outfit"/>
                <a:cs typeface="Outfit"/>
                <a:sym typeface="Outfit"/>
              </a:rPr>
              <a:t>La definición de saturación se calcula individualmente combinando las órdenes en cola y los riders cercanos.</a:t>
            </a:r>
            <a:endParaRPr b="0" sz="1050">
              <a:solidFill>
                <a:srgbClr val="4C43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 performance</a:t>
            </a:r>
            <a:endParaRPr/>
          </a:p>
        </p:txBody>
      </p:sp>
      <p:sp>
        <p:nvSpPr>
          <p:cNvPr id="296" name="Google Shape;296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&amp; HDM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02" name="Google Shape;302;p29"/>
          <p:cNvSpPr txBox="1"/>
          <p:nvPr>
            <p:ph idx="1" type="body"/>
          </p:nvPr>
        </p:nvSpPr>
        <p:spPr>
          <a:xfrm>
            <a:off x="311700" y="1152475"/>
            <a:ext cx="5419500" cy="34164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Slide 1</a:t>
            </a:r>
            <a:r>
              <a:rPr lang="en"/>
              <a:t> El problema: la subestimación en contexto de saturación. (Pablo)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</a:rPr>
              <a:t>Slide 2 </a:t>
            </a:r>
            <a:r>
              <a:rPr lang="en">
                <a:highlight>
                  <a:srgbClr val="FFFF00"/>
                </a:highlight>
              </a:rPr>
              <a:t>Solución: triggers de HDM y de cierre según AWT. ¿Cómo funcionan? </a:t>
            </a:r>
            <a:r>
              <a:rPr b="1" lang="en">
                <a:highlight>
                  <a:srgbClr val="FFFF00"/>
                </a:highlight>
              </a:rPr>
              <a:t>Qué limitaciones tienen. (</a:t>
            </a:r>
            <a:r>
              <a:rPr lang="en">
                <a:highlight>
                  <a:srgbClr val="FFFF00"/>
                </a:highlight>
              </a:rPr>
              <a:t>Pablo)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CE5CD"/>
                </a:highlight>
              </a:rPr>
              <a:t>Slide 3 </a:t>
            </a:r>
            <a:r>
              <a:rPr lang="en">
                <a:highlight>
                  <a:srgbClr val="FCE5CD"/>
                </a:highlight>
              </a:rPr>
              <a:t>Hitos de la optimización (Cris) </a:t>
            </a:r>
            <a:endParaRPr>
              <a:highlight>
                <a:srgbClr val="FCE5CD"/>
              </a:highlight>
            </a:endParaRPr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rgbClr val="FCE5CD"/>
                </a:highlight>
              </a:rPr>
              <a:t>Inicio: genéricos por grade (+4 min x 20 min). </a:t>
            </a:r>
            <a:endParaRPr>
              <a:highlight>
                <a:srgbClr val="FCE5CD"/>
              </a:highlight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rgbClr val="FCE5CD"/>
                </a:highlight>
              </a:rPr>
              <a:t>1era optimización: por marcas y escalonado según saturación. </a:t>
            </a:r>
            <a:endParaRPr>
              <a:highlight>
                <a:srgbClr val="FCE5CD"/>
              </a:highlight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en">
                <a:solidFill>
                  <a:schemeClr val="accent1"/>
                </a:solidFill>
                <a:highlight>
                  <a:srgbClr val="FCE5CD"/>
                </a:highlight>
              </a:rPr>
              <a:t>2da optimización: cierres sin posibilidad de apertura. </a:t>
            </a:r>
            <a:endParaRPr>
              <a:solidFill>
                <a:schemeClr val="accent1"/>
              </a:solidFill>
              <a:highlight>
                <a:srgbClr val="FCE5CD"/>
              </a:highlight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F90050"/>
              </a:buClr>
              <a:buSzPct val="100000"/>
              <a:buChar char="●"/>
            </a:pPr>
            <a:r>
              <a:rPr lang="en">
                <a:solidFill>
                  <a:srgbClr val="F90050"/>
                </a:solidFill>
                <a:highlight>
                  <a:srgbClr val="FCE5CD"/>
                </a:highlight>
              </a:rPr>
              <a:t>3era optimización: separación vía grade y marcas.  </a:t>
            </a:r>
            <a:endParaRPr>
              <a:solidFill>
                <a:srgbClr val="F90050"/>
              </a:solidFill>
              <a:highlight>
                <a:srgbClr val="FCE5CD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accent6"/>
                </a:highlight>
              </a:rPr>
              <a:t>Slide 4 </a:t>
            </a:r>
            <a:r>
              <a:rPr lang="en">
                <a:highlight>
                  <a:schemeClr val="accent6"/>
                </a:highlight>
              </a:rPr>
              <a:t>Triggers de cierre: impacto en el nonseamless. La tabla + la metodología + la estimación de órdenes pérdidas por cierre. </a:t>
            </a:r>
            <a:endParaRPr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Slide 5 </a:t>
            </a:r>
            <a:r>
              <a:rPr lang="en"/>
              <a:t>Triggers de HDM marca-grade. Lo que mostramos en performance regiones. Evaluar si elegir una marca y profundizar, o agrupar las marcas afectadas a nivel grade, o hablar de estado saturado vs no saturado.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highlight>
                  <a:srgbClr val="F9CB9C"/>
                </a:highlight>
              </a:rPr>
              <a:t>Slide 6 </a:t>
            </a:r>
            <a:r>
              <a:rPr lang="en">
                <a:solidFill>
                  <a:srgbClr val="F90050"/>
                </a:solidFill>
                <a:highlight>
                  <a:srgbClr val="F9CB9C"/>
                </a:highlight>
              </a:rPr>
              <a:t>Next steps: calibrar los cierres + calibrar los triggers por marca incorporando más marcas. Test de apagado de triggers en ciertas ciudades. </a:t>
            </a:r>
            <a:endParaRPr>
              <a:solidFill>
                <a:srgbClr val="F90050"/>
              </a:solidFill>
              <a:highlight>
                <a:srgbClr val="F9CB9C"/>
              </a:highlight>
            </a:endParaRPr>
          </a:p>
        </p:txBody>
      </p:sp>
      <p:pic>
        <p:nvPicPr>
          <p:cNvPr id="303" name="Google Shape;303;p29"/>
          <p:cNvPicPr preferRelativeResize="0"/>
          <p:nvPr/>
        </p:nvPicPr>
        <p:blipFill rotWithShape="1">
          <a:blip r:embed="rId3">
            <a:alphaModFix/>
          </a:blip>
          <a:srcRect b="0" l="25407" r="0" t="38096"/>
          <a:stretch/>
        </p:blipFill>
        <p:spPr>
          <a:xfrm>
            <a:off x="5848350" y="1313600"/>
            <a:ext cx="3191350" cy="12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348" y="2799150"/>
            <a:ext cx="3191351" cy="159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25" y="1385200"/>
            <a:ext cx="3307150" cy="33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1664875" y="114425"/>
            <a:ext cx="1292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02. Triggers</a:t>
            </a:r>
            <a:r>
              <a:rPr b="1" lang="en" sz="600">
                <a:latin typeface="Outfit"/>
                <a:ea typeface="Outfit"/>
                <a:cs typeface="Outfit"/>
                <a:sym typeface="Outfit"/>
              </a:rPr>
              <a:t> HDM</a:t>
            </a:r>
            <a:endParaRPr b="1" sz="6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691425" y="114425"/>
            <a:ext cx="70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SUMMIT LOG&amp;OPS 2026</a:t>
            </a:r>
            <a:endParaRPr sz="6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8173919" y="114425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13" name="Google Shape;313;p30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4" name="Google Shape;314;p30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691450" y="632975"/>
            <a:ext cx="792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SUMMIT LOG &amp; OPS</a:t>
            </a:r>
            <a:br>
              <a:rPr b="1" lang="en" sz="12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En saturación, el EPT deja de representar el tiempo real</a:t>
            </a:r>
            <a:endParaRPr b="1" sz="21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981903" y="164567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Más órdenes recibidas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981903" y="227142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EA044E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Tienda saturada</a:t>
            </a:r>
            <a:endParaRPr sz="9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981903" y="289717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Preparación se atrasa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981903" y="3522925"/>
            <a:ext cx="2874600" cy="347700"/>
          </a:xfrm>
          <a:prstGeom prst="roundRect">
            <a:avLst>
              <a:gd fmla="val 16663" name="adj"/>
            </a:avLst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Rider llega antes de tiempo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981903" y="4148675"/>
            <a:ext cx="2874600" cy="347700"/>
          </a:xfrm>
          <a:prstGeom prst="roundRect">
            <a:avLst>
              <a:gd fmla="val 16663" name="adj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042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AWT y NS aumentan</a:t>
            </a:r>
            <a:endParaRPr sz="900">
              <a:solidFill>
                <a:srgbClr val="10042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descr="image.png" id="321" name="Google Shape;32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5628" y="2060964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5628" y="2686701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5628" y="3312464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5628" y="3938214"/>
            <a:ext cx="10715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9950" y="1385200"/>
            <a:ext cx="7877351" cy="33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"/>
          <p:cNvSpPr txBox="1"/>
          <p:nvPr/>
        </p:nvSpPr>
        <p:spPr>
          <a:xfrm>
            <a:off x="647050" y="553625"/>
            <a:ext cx="55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EA044E"/>
                </a:solidFill>
                <a:latin typeface="Outfit Medium"/>
                <a:ea typeface="Outfit Medium"/>
                <a:cs typeface="Outfit Medium"/>
                <a:sym typeface="Outfit Medium"/>
              </a:rPr>
              <a:t>Overview</a:t>
            </a:r>
            <a:br>
              <a:rPr lang="en" sz="1200">
                <a:solidFill>
                  <a:srgbClr val="EA044E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b="1" lang="en" sz="2400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Triggers </a:t>
            </a:r>
            <a:endParaRPr sz="2100">
              <a:solidFill>
                <a:srgbClr val="EA044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331" name="Google Shape;331;p31"/>
          <p:cNvGrpSpPr/>
          <p:nvPr/>
        </p:nvGrpSpPr>
        <p:grpSpPr>
          <a:xfrm>
            <a:off x="537637" y="1685939"/>
            <a:ext cx="1895403" cy="1338837"/>
            <a:chOff x="4075875" y="2263100"/>
            <a:chExt cx="1072425" cy="559200"/>
          </a:xfrm>
        </p:grpSpPr>
        <p:sp>
          <p:nvSpPr>
            <p:cNvPr id="332" name="Google Shape;332;p31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Con posibilidad de apertura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3" name="Google Shape;333;p31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FF8159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grpSp>
        <p:nvGrpSpPr>
          <p:cNvPr id="334" name="Google Shape;334;p31"/>
          <p:cNvGrpSpPr/>
          <p:nvPr/>
        </p:nvGrpSpPr>
        <p:grpSpPr>
          <a:xfrm>
            <a:off x="537637" y="3199856"/>
            <a:ext cx="1895403" cy="1338837"/>
            <a:chOff x="4075875" y="2263100"/>
            <a:chExt cx="1072425" cy="559200"/>
          </a:xfrm>
        </p:grpSpPr>
        <p:sp>
          <p:nvSpPr>
            <p:cNvPr id="335" name="Google Shape;335;p31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Sin posibilidad de apertura 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8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800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(desde 18.06)</a:t>
              </a:r>
              <a:endParaRPr b="1" i="1" sz="8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6" name="Google Shape;336;p31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EA044E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sp>
        <p:nvSpPr>
          <p:cNvPr id="337" name="Google Shape;337;p31"/>
          <p:cNvSpPr/>
          <p:nvPr/>
        </p:nvSpPr>
        <p:spPr>
          <a:xfrm>
            <a:off x="5159725" y="1685950"/>
            <a:ext cx="3652800" cy="2852700"/>
          </a:xfrm>
          <a:prstGeom prst="roundRect">
            <a:avLst>
              <a:gd fmla="val 3456" name="adj"/>
            </a:avLst>
          </a:prstGeom>
          <a:solidFill>
            <a:srgbClr val="FFFFFF"/>
          </a:solidFill>
          <a:ln cap="flat" cmpd="sng" w="1905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¿Cómo funcionan?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 Umbrales de: 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423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Órdenes en cola.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423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Riders near store.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AWT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100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Una vez cruzados los 3 umbrales se activa el trigger.</a:t>
            </a:r>
            <a:b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39" name="Google Shape;339;p3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1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2" name="Google Shape;3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6524050" y="-46"/>
            <a:ext cx="1134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Pablo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344" name="Google Shape;344;p31"/>
          <p:cNvGrpSpPr/>
          <p:nvPr/>
        </p:nvGrpSpPr>
        <p:grpSpPr>
          <a:xfrm>
            <a:off x="2789692" y="1685948"/>
            <a:ext cx="1895403" cy="2852703"/>
            <a:chOff x="4075875" y="2263100"/>
            <a:chExt cx="1072425" cy="559200"/>
          </a:xfrm>
        </p:grpSpPr>
        <p:sp>
          <p:nvSpPr>
            <p:cNvPr id="345" name="Google Shape;345;p31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Adición de cierta cantidad de minutos al EPT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sp>
        <p:nvSpPr>
          <p:cNvPr id="347" name="Google Shape;347;p31"/>
          <p:cNvSpPr txBox="1"/>
          <p:nvPr/>
        </p:nvSpPr>
        <p:spPr>
          <a:xfrm>
            <a:off x="650750" y="1393025"/>
            <a:ext cx="166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De cierre</a:t>
            </a:r>
            <a:endParaRPr>
              <a:solidFill>
                <a:srgbClr val="EA044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2902800" y="1393025"/>
            <a:ext cx="166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High Demand Mode</a:t>
            </a:r>
            <a:endParaRPr>
              <a:solidFill>
                <a:srgbClr val="EA044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/>
        </p:nvSpPr>
        <p:spPr>
          <a:xfrm>
            <a:off x="105675" y="507250"/>
            <a:ext cx="8797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Sin los cierres, ¿qué seamless tenían las órdenes generadas durante la saturación?</a:t>
            </a:r>
            <a:endParaRPr b="1" sz="1800">
              <a:solidFill>
                <a:srgbClr val="FA005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354" name="Google Shape;354;p32"/>
          <p:cNvGraphicFramePr/>
          <p:nvPr/>
        </p:nvGraphicFramePr>
        <p:xfrm>
          <a:off x="6811500" y="151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1015750"/>
                <a:gridCol w="1015750"/>
              </a:tblGrid>
              <a:tr h="5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Grade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en saturación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43%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51%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44%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66%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p32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56" name="Google Shape;356;p32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2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9" name="Google Shape;35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2"/>
          <p:cNvSpPr txBox="1"/>
          <p:nvPr/>
        </p:nvSpPr>
        <p:spPr>
          <a:xfrm>
            <a:off x="6524050" y="-46"/>
            <a:ext cx="1134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Pablo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61" name="Google Shape;36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225" y="1341385"/>
            <a:ext cx="6173595" cy="308941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2"/>
          <p:cNvSpPr txBox="1"/>
          <p:nvPr/>
        </p:nvSpPr>
        <p:spPr>
          <a:xfrm>
            <a:off x="1536686" y="1993177"/>
            <a:ext cx="539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0" lIns="87750" spcFirstLastPara="1" rIns="87750" wrap="square" tIns="8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28">
                <a:solidFill>
                  <a:schemeClr val="lt1"/>
                </a:solidFill>
              </a:rPr>
              <a:t>X</a:t>
            </a:r>
            <a:endParaRPr b="1" sz="1728">
              <a:solidFill>
                <a:schemeClr val="lt1"/>
              </a:solidFill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3760037" y="1834500"/>
            <a:ext cx="539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50" lIns="87750" spcFirstLastPara="1" rIns="87750" wrap="square" tIns="8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28">
                <a:solidFill>
                  <a:schemeClr val="lt1"/>
                </a:solidFill>
              </a:rPr>
              <a:t>X</a:t>
            </a:r>
            <a:endParaRPr b="1" sz="1728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/>
          <p:nvPr/>
        </p:nvSpPr>
        <p:spPr>
          <a:xfrm>
            <a:off x="152400" y="284150"/>
            <a:ext cx="88032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¿Cuánto perdimos por cerrar a los partners? Estimando según las órdenes de las últimas semanas, ~2200 órdenes no se pudieron hacer en los partners afectados</a:t>
            </a:r>
            <a:endParaRPr b="1" sz="1600">
              <a:solidFill>
                <a:srgbClr val="FA005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69" name="Google Shape;3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9275"/>
            <a:ext cx="5731576" cy="310525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3"/>
          <p:cNvSpPr txBox="1"/>
          <p:nvPr/>
        </p:nvSpPr>
        <p:spPr>
          <a:xfrm>
            <a:off x="6941375" y="3765400"/>
            <a:ext cx="18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W28-29</a:t>
            </a:r>
            <a:endParaRPr b="1"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71" name="Google Shape;371;p33"/>
          <p:cNvGraphicFramePr/>
          <p:nvPr/>
        </p:nvGraphicFramePr>
        <p:xfrm>
          <a:off x="5966825" y="1014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795025"/>
                <a:gridCol w="1149725"/>
                <a:gridCol w="972375"/>
              </a:tblGrid>
              <a:tr h="40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posibilidad de apertura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 posiblidad de apertura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1,154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240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5,056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2,105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560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33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73" name="Google Shape;373;p33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3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6524050" y="-46"/>
            <a:ext cx="1134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Pablo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5287714"/>
            <a:ext cx="8286750" cy="464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44326"/>
            <a:ext cx="1964531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6031" y="1044326"/>
            <a:ext cx="1964531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38" y="1044326"/>
            <a:ext cx="1964531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0844" y="1044326"/>
            <a:ext cx="1964531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2475" y="2507738"/>
            <a:ext cx="5179201" cy="23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428625" y="285750"/>
            <a:ext cx="828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0697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04. MÉTRICAS</a:t>
            </a:r>
            <a:endParaRPr sz="1100"/>
          </a:p>
        </p:txBody>
      </p:sp>
      <p:sp>
        <p:nvSpPr>
          <p:cNvPr id="389" name="Google Shape;389;p34"/>
          <p:cNvSpPr txBox="1"/>
          <p:nvPr/>
        </p:nvSpPr>
        <p:spPr>
          <a:xfrm>
            <a:off x="428625" y="500063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Actividad e impacto de los cierres W2</a:t>
            </a:r>
            <a:r>
              <a:rPr b="1" lang="en" sz="24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8-29</a:t>
            </a:r>
            <a:endParaRPr sz="1100"/>
          </a:p>
        </p:txBody>
      </p:sp>
      <p:sp>
        <p:nvSpPr>
          <p:cNvPr id="390" name="Google Shape;390;p34"/>
          <p:cNvSpPr txBox="1"/>
          <p:nvPr/>
        </p:nvSpPr>
        <p:spPr>
          <a:xfrm>
            <a:off x="685800" y="5430589"/>
            <a:ext cx="6122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El trade-off:</a:t>
            </a:r>
            <a:r>
              <a:rPr b="0" i="0" lang="en" sz="1100" u="none" cap="none" strike="noStrike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  <a:t> Cuánto seamless protegen los cierres versus cuánta demanda potencial bloquean.</a:t>
            </a:r>
            <a:endParaRPr sz="1100"/>
          </a:p>
        </p:txBody>
      </p:sp>
      <p:sp>
        <p:nvSpPr>
          <p:cNvPr id="391" name="Google Shape;391;p34"/>
          <p:cNvSpPr txBox="1"/>
          <p:nvPr/>
        </p:nvSpPr>
        <p:spPr>
          <a:xfrm>
            <a:off x="642938" y="1215776"/>
            <a:ext cx="15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10042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14.5k</a:t>
            </a:r>
            <a:endParaRPr sz="1100"/>
          </a:p>
        </p:txBody>
      </p:sp>
      <p:sp>
        <p:nvSpPr>
          <p:cNvPr id="392" name="Google Shape;392;p34"/>
          <p:cNvSpPr txBox="1"/>
          <p:nvPr/>
        </p:nvSpPr>
        <p:spPr>
          <a:xfrm>
            <a:off x="642938" y="1630114"/>
            <a:ext cx="157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C435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ACTIVACIONES</a:t>
            </a:r>
            <a:endParaRPr sz="1100"/>
          </a:p>
        </p:txBody>
      </p:sp>
      <p:sp>
        <p:nvSpPr>
          <p:cNvPr id="393" name="Google Shape;393;p34"/>
          <p:cNvSpPr txBox="1"/>
          <p:nvPr/>
        </p:nvSpPr>
        <p:spPr>
          <a:xfrm>
            <a:off x="2750344" y="1215776"/>
            <a:ext cx="15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10042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2.1k</a:t>
            </a:r>
            <a:endParaRPr sz="1100"/>
          </a:p>
        </p:txBody>
      </p:sp>
      <p:sp>
        <p:nvSpPr>
          <p:cNvPr id="394" name="Google Shape;394;p34"/>
          <p:cNvSpPr txBox="1"/>
          <p:nvPr/>
        </p:nvSpPr>
        <p:spPr>
          <a:xfrm>
            <a:off x="2750344" y="1630114"/>
            <a:ext cx="157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C435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VENDORS CERRADOS</a:t>
            </a:r>
            <a:endParaRPr sz="1100"/>
          </a:p>
        </p:txBody>
      </p:sp>
      <p:sp>
        <p:nvSpPr>
          <p:cNvPr id="395" name="Google Shape;395;p34"/>
          <p:cNvSpPr txBox="1"/>
          <p:nvPr/>
        </p:nvSpPr>
        <p:spPr>
          <a:xfrm>
            <a:off x="4857750" y="1215776"/>
            <a:ext cx="15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10042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3,850</a:t>
            </a:r>
            <a:endParaRPr sz="1100"/>
          </a:p>
        </p:txBody>
      </p:sp>
      <p:sp>
        <p:nvSpPr>
          <p:cNvPr id="396" name="Google Shape;396;p34"/>
          <p:cNvSpPr txBox="1"/>
          <p:nvPr/>
        </p:nvSpPr>
        <p:spPr>
          <a:xfrm>
            <a:off x="4857750" y="1630114"/>
            <a:ext cx="157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C435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HORAS TOTALES CERRADAS</a:t>
            </a:r>
            <a:endParaRPr sz="1100"/>
          </a:p>
        </p:txBody>
      </p:sp>
      <p:sp>
        <p:nvSpPr>
          <p:cNvPr id="397" name="Google Shape;397;p34"/>
          <p:cNvSpPr txBox="1"/>
          <p:nvPr/>
        </p:nvSpPr>
        <p:spPr>
          <a:xfrm>
            <a:off x="6965156" y="1215776"/>
            <a:ext cx="15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EA044E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</a:t>
            </a:r>
            <a:r>
              <a:rPr lang="en" sz="2700">
                <a:solidFill>
                  <a:srgbClr val="EA044E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</a:t>
            </a:r>
            <a:r>
              <a:rPr b="0" i="0" lang="en" sz="2700" u="none" cap="none" strike="noStrike">
                <a:solidFill>
                  <a:srgbClr val="EA044E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.4k</a:t>
            </a:r>
            <a:endParaRPr sz="1100"/>
          </a:p>
        </p:txBody>
      </p:sp>
      <p:sp>
        <p:nvSpPr>
          <p:cNvPr id="398" name="Google Shape;398;p34"/>
          <p:cNvSpPr txBox="1"/>
          <p:nvPr/>
        </p:nvSpPr>
        <p:spPr>
          <a:xfrm>
            <a:off x="6965156" y="1630114"/>
            <a:ext cx="157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C435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ÓRDENES POTENCIALMENTE NO CAPTURADAS</a:t>
            </a:r>
            <a:endParaRPr sz="1100"/>
          </a:p>
        </p:txBody>
      </p:sp>
      <p:sp>
        <p:nvSpPr>
          <p:cNvPr id="399" name="Google Shape;399;p34"/>
          <p:cNvSpPr/>
          <p:nvPr/>
        </p:nvSpPr>
        <p:spPr>
          <a:xfrm>
            <a:off x="1996750" y="2522014"/>
            <a:ext cx="5164800" cy="2286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0" name="Google Shape;400;p34"/>
          <p:cNvGraphicFramePr/>
          <p:nvPr/>
        </p:nvGraphicFramePr>
        <p:xfrm>
          <a:off x="1996750" y="25220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{8E5ADCB0-A164-41CA-AC8A-ECBC1A861154}</a:tableStyleId>
              </a:tblPr>
              <a:tblGrid>
                <a:gridCol w="1822000"/>
                <a:gridCol w="1671400"/>
                <a:gridCol w="1671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70697A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Hs Cerradas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70697A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Dur. Mediana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70697A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Órdenes Est.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1,120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15m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EA044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3,850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950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15m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EA044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3,120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520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20m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EA044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1,450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380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100423"/>
                          </a:solidFill>
                          <a:latin typeface="Outfit Medium"/>
                          <a:ea typeface="Outfit Medium"/>
                          <a:cs typeface="Outfit Medium"/>
                          <a:sym typeface="Outfit Medium"/>
                        </a:rPr>
                        <a:t>20m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EA044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980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34"/>
          <p:cNvSpPr/>
          <p:nvPr/>
        </p:nvSpPr>
        <p:spPr>
          <a:xfrm>
            <a:off x="1996750" y="3004217"/>
            <a:ext cx="9645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961156" y="3004217"/>
            <a:ext cx="6573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3618381" y="3004217"/>
            <a:ext cx="10932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4711375" y="3004217"/>
            <a:ext cx="8646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5575769" y="3004217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6368725" y="3004217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1996750" y="3454274"/>
            <a:ext cx="9645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2961156" y="3454274"/>
            <a:ext cx="6573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3618381" y="3454274"/>
            <a:ext cx="10932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4711375" y="3454274"/>
            <a:ext cx="8646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5575769" y="3454274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6368725" y="3454274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1996750" y="3904330"/>
            <a:ext cx="9645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2961156" y="3904330"/>
            <a:ext cx="6573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3618381" y="3904330"/>
            <a:ext cx="10932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4711375" y="3904330"/>
            <a:ext cx="8646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5575769" y="3904330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6368725" y="3904330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1996750" y="4354386"/>
            <a:ext cx="9645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2961156" y="4354386"/>
            <a:ext cx="6573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3618381" y="4354386"/>
            <a:ext cx="10932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4711375" y="4354386"/>
            <a:ext cx="8646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5575769" y="4354386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6368725" y="4354386"/>
            <a:ext cx="792900" cy="72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5" name="Google Shape;42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4031" y="3129233"/>
            <a:ext cx="371475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4031" y="3579289"/>
            <a:ext cx="371475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04031" y="4029345"/>
            <a:ext cx="307181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04031" y="4479401"/>
            <a:ext cx="307181" cy="21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/>
          <p:nvPr/>
        </p:nvSpPr>
        <p:spPr>
          <a:xfrm>
            <a:off x="141513" y="509275"/>
            <a:ext cx="8332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Resultados: Non-Seamless</a:t>
            </a:r>
            <a:r>
              <a:rPr b="1" lang="en" sz="2200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" sz="1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evitado</a:t>
            </a:r>
            <a:endParaRPr b="1" sz="2200">
              <a:solidFill>
                <a:srgbClr val="FF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434" name="Google Shape;434;p35"/>
          <p:cNvGraphicFramePr/>
          <p:nvPr/>
        </p:nvGraphicFramePr>
        <p:xfrm>
          <a:off x="2175825" y="172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70350"/>
                <a:gridCol w="1207975"/>
                <a:gridCol w="1406025"/>
                <a:gridCol w="1207975"/>
              </a:tblGrid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273,240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202,708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74.19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bloqueadas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10,470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4,881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46.61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283,710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207,589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73.17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5" name="Google Shape;435;p35"/>
          <p:cNvSpPr txBox="1"/>
          <p:nvPr/>
        </p:nvSpPr>
        <p:spPr>
          <a:xfrm>
            <a:off x="3379050" y="3526550"/>
            <a:ext cx="238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+1.02pp seamless </a:t>
            </a:r>
            <a:endParaRPr b="1" sz="1800">
              <a:solidFill>
                <a:srgbClr val="FA005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por tener cierres</a:t>
            </a:r>
            <a:endParaRPr b="1"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6" name="Google Shape;436;p35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0" name="Google Shape;44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5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6"/>
          <p:cNvSpPr txBox="1"/>
          <p:nvPr/>
        </p:nvSpPr>
        <p:spPr>
          <a:xfrm>
            <a:off x="680050" y="123950"/>
            <a:ext cx="90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70697A"/>
                </a:solidFill>
                <a:latin typeface="Outfit"/>
                <a:ea typeface="Outfit"/>
                <a:cs typeface="Outfit"/>
                <a:sym typeface="Outfit"/>
              </a:rPr>
              <a:t>Plan 2026 - Ops &amp; Log</a:t>
            </a:r>
            <a:endParaRPr sz="600">
              <a:solidFill>
                <a:srgbClr val="70697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8162544" y="123950"/>
            <a:ext cx="706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Volver al índice </a:t>
            </a:r>
            <a:r>
              <a:rPr b="1" lang="en" sz="600">
                <a:solidFill>
                  <a:srgbClr val="EA044E"/>
                </a:solidFill>
                <a:latin typeface="Outfit"/>
                <a:ea typeface="Outfit"/>
                <a:cs typeface="Outfit"/>
                <a:sym typeface="Outfit"/>
              </a:rPr>
              <a:t> ↩ </a:t>
            </a:r>
            <a:endParaRPr b="1" sz="600">
              <a:solidFill>
                <a:srgbClr val="EA044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48" name="Google Shape;448;p36"/>
          <p:cNvCxnSpPr/>
          <p:nvPr/>
        </p:nvCxnSpPr>
        <p:spPr>
          <a:xfrm>
            <a:off x="4" y="353825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" name="Google Shape;449;p36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35750" y="93200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6"/>
          <p:cNvSpPr txBox="1"/>
          <p:nvPr/>
        </p:nvSpPr>
        <p:spPr>
          <a:xfrm>
            <a:off x="128600" y="4810675"/>
            <a:ext cx="3804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Data: McDonald’s 01 al 06 de julio 2026.</a:t>
            </a:r>
            <a:endParaRPr i="1"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1" name="Google Shape;451;p36"/>
          <p:cNvGrpSpPr/>
          <p:nvPr/>
        </p:nvGrpSpPr>
        <p:grpSpPr>
          <a:xfrm>
            <a:off x="440095" y="3488003"/>
            <a:ext cx="2449418" cy="963669"/>
            <a:chOff x="4075875" y="2263100"/>
            <a:chExt cx="1072425" cy="559200"/>
          </a:xfrm>
        </p:grpSpPr>
        <p:sp>
          <p:nvSpPr>
            <p:cNvPr id="452" name="Google Shape;452;p36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Oportunidad de activar más en los grades más bajos.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pic>
        <p:nvPicPr>
          <p:cNvPr id="454" name="Google Shape;4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913" y="501187"/>
            <a:ext cx="8910181" cy="2692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5" name="Google Shape;455;p36"/>
          <p:cNvGrpSpPr/>
          <p:nvPr/>
        </p:nvGrpSpPr>
        <p:grpSpPr>
          <a:xfrm>
            <a:off x="3307970" y="3488003"/>
            <a:ext cx="2449418" cy="963669"/>
            <a:chOff x="4075875" y="2263100"/>
            <a:chExt cx="1072425" cy="559200"/>
          </a:xfrm>
        </p:grpSpPr>
        <p:sp>
          <p:nvSpPr>
            <p:cNvPr id="456" name="Google Shape;456;p36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Necesidad de una mejor señal desde Food is Ready.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grpSp>
        <p:nvGrpSpPr>
          <p:cNvPr id="458" name="Google Shape;458;p36"/>
          <p:cNvGrpSpPr/>
          <p:nvPr/>
        </p:nvGrpSpPr>
        <p:grpSpPr>
          <a:xfrm>
            <a:off x="6175845" y="3488003"/>
            <a:ext cx="2449418" cy="963669"/>
            <a:chOff x="4075875" y="2263100"/>
            <a:chExt cx="1072425" cy="559200"/>
          </a:xfrm>
        </p:grpSpPr>
        <p:sp>
          <p:nvSpPr>
            <p:cNvPr id="459" name="Google Shape;459;p36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Calibración de tiempo adicional en grade AAA.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"/>
          <p:cNvSpPr txBox="1"/>
          <p:nvPr>
            <p:ph type="title"/>
          </p:nvPr>
        </p:nvSpPr>
        <p:spPr>
          <a:xfrm>
            <a:off x="245300" y="29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Optimización de triggers HDM</a:t>
            </a:r>
            <a:endParaRPr b="1"/>
          </a:p>
        </p:txBody>
      </p:sp>
      <p:sp>
        <p:nvSpPr>
          <p:cNvPr id="466" name="Google Shape;466;p37"/>
          <p:cNvSpPr txBox="1"/>
          <p:nvPr/>
        </p:nvSpPr>
        <p:spPr>
          <a:xfrm>
            <a:off x="568225" y="1040500"/>
            <a:ext cx="4309500" cy="30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 hizo para McD, PJ, Under, Melt, KFC.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 separó</a:t>
            </a:r>
            <a:r>
              <a:rPr b="1" lang="en" sz="1800">
                <a:solidFill>
                  <a:schemeClr val="dk2"/>
                </a:solidFill>
              </a:rPr>
              <a:t> por grade la activación</a:t>
            </a:r>
            <a:r>
              <a:rPr lang="en" sz="1800">
                <a:solidFill>
                  <a:schemeClr val="dk2"/>
                </a:solidFill>
              </a:rPr>
              <a:t> en lugar de una activación nesteada.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Beneficio?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b="1" lang="en" sz="1800">
                <a:solidFill>
                  <a:schemeClr val="dk2"/>
                </a:solidFill>
              </a:rPr>
              <a:t>Saturado </a:t>
            </a:r>
            <a:r>
              <a:rPr lang="en" sz="1800">
                <a:solidFill>
                  <a:schemeClr val="dk2"/>
                </a:solidFill>
              </a:rPr>
              <a:t>/ no saturado. Cada grade se analizó para definir cuál es su estado saturado (orders, riders).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7" name="Google Shape;467;p37"/>
          <p:cNvSpPr txBox="1"/>
          <p:nvPr/>
        </p:nvSpPr>
        <p:spPr>
          <a:xfrm>
            <a:off x="5770825" y="4147275"/>
            <a:ext cx="12840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AAA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7008000" y="4117750"/>
            <a:ext cx="12840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5800350" y="3342900"/>
            <a:ext cx="302700" cy="80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7"/>
          <p:cNvSpPr/>
          <p:nvPr/>
        </p:nvSpPr>
        <p:spPr>
          <a:xfrm>
            <a:off x="6154700" y="3652850"/>
            <a:ext cx="302700" cy="49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7"/>
          <p:cNvSpPr txBox="1"/>
          <p:nvPr/>
        </p:nvSpPr>
        <p:spPr>
          <a:xfrm>
            <a:off x="5711725" y="2678750"/>
            <a:ext cx="28929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% HDM vs AWT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2" name="Google Shape;472;p37"/>
          <p:cNvSpPr/>
          <p:nvPr/>
        </p:nvSpPr>
        <p:spPr>
          <a:xfrm>
            <a:off x="5387025" y="2302400"/>
            <a:ext cx="3564300" cy="35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Saturado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/>
          <p:nvPr/>
        </p:nvSpPr>
        <p:spPr>
          <a:xfrm>
            <a:off x="0" y="0"/>
            <a:ext cx="9180000" cy="5172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McDonalds</a:t>
            </a:r>
            <a:endParaRPr/>
          </a:p>
        </p:txBody>
      </p:sp>
      <p:sp>
        <p:nvSpPr>
          <p:cNvPr id="483" name="Google Shape;483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8700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KFC</a:t>
            </a:r>
            <a:endParaRPr/>
          </a:p>
        </p:txBody>
      </p:sp>
      <p:sp>
        <p:nvSpPr>
          <p:cNvPr id="494" name="Google Shape;494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125" y="152400"/>
            <a:ext cx="728174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3"/>
          <p:cNvSpPr/>
          <p:nvPr/>
        </p:nvSpPr>
        <p:spPr>
          <a:xfrm>
            <a:off x="905375" y="2799975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3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4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5"/>
          <p:cNvSpPr/>
          <p:nvPr/>
        </p:nvSpPr>
        <p:spPr>
          <a:xfrm>
            <a:off x="905375" y="3597575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5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6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7"/>
          <p:cNvSpPr/>
          <p:nvPr/>
        </p:nvSpPr>
        <p:spPr>
          <a:xfrm>
            <a:off x="917950" y="3980625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7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9"/>
          <p:cNvSpPr/>
          <p:nvPr/>
        </p:nvSpPr>
        <p:spPr>
          <a:xfrm>
            <a:off x="924200" y="3980650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9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0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1"/>
          <p:cNvSpPr/>
          <p:nvPr/>
        </p:nvSpPr>
        <p:spPr>
          <a:xfrm>
            <a:off x="924200" y="3980650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1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melt-under-pjohns</a:t>
            </a:r>
            <a:endParaRPr/>
          </a:p>
        </p:txBody>
      </p:sp>
      <p:sp>
        <p:nvSpPr>
          <p:cNvPr id="565" name="Google Shape;565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50" y="152400"/>
            <a:ext cx="728700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4"/>
          <p:cNvSpPr txBox="1"/>
          <p:nvPr>
            <p:ph idx="1" type="subTitle"/>
          </p:nvPr>
        </p:nvSpPr>
        <p:spPr>
          <a:xfrm>
            <a:off x="7612425" y="2129900"/>
            <a:ext cx="141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Saturado sin max awt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61575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5"/>
          <p:cNvSpPr/>
          <p:nvPr/>
        </p:nvSpPr>
        <p:spPr>
          <a:xfrm>
            <a:off x="899100" y="3176775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5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6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  <p:pic>
        <p:nvPicPr>
          <p:cNvPr id="584" name="Google Shape;58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6157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7"/>
          <p:cNvSpPr/>
          <p:nvPr/>
        </p:nvSpPr>
        <p:spPr>
          <a:xfrm>
            <a:off x="913175" y="3573925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7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8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  <p:pic>
        <p:nvPicPr>
          <p:cNvPr id="597" name="Google Shape;59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9"/>
          <p:cNvSpPr/>
          <p:nvPr/>
        </p:nvSpPr>
        <p:spPr>
          <a:xfrm>
            <a:off x="909025" y="3973600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9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0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  <p:pic>
        <p:nvPicPr>
          <p:cNvPr id="610" name="Google Shape;61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1"/>
          <p:cNvSpPr/>
          <p:nvPr/>
        </p:nvSpPr>
        <p:spPr>
          <a:xfrm>
            <a:off x="915225" y="3971500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1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2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  <p:pic>
        <p:nvPicPr>
          <p:cNvPr id="623" name="Google Shape;62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3"/>
          <p:cNvSpPr/>
          <p:nvPr/>
        </p:nvSpPr>
        <p:spPr>
          <a:xfrm>
            <a:off x="915225" y="3973575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3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4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  <p:pic>
        <p:nvPicPr>
          <p:cNvPr id="636" name="Google Shape;63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5"/>
          <p:cNvSpPr/>
          <p:nvPr/>
        </p:nvSpPr>
        <p:spPr>
          <a:xfrm>
            <a:off x="915250" y="3975650"/>
            <a:ext cx="426600" cy="35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5"/>
          <p:cNvSpPr txBox="1"/>
          <p:nvPr>
            <p:ph idx="1" type="subTitle"/>
          </p:nvPr>
        </p:nvSpPr>
        <p:spPr>
          <a:xfrm>
            <a:off x="6607200" y="2175450"/>
            <a:ext cx="244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22-06 a 05-07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"/>
          <p:cNvSpPr txBox="1"/>
          <p:nvPr>
            <p:ph type="ctrTitle"/>
          </p:nvPr>
        </p:nvSpPr>
        <p:spPr>
          <a:xfrm>
            <a:off x="6758775" y="1545450"/>
            <a:ext cx="202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29-06 a 12-07</a:t>
            </a:r>
            <a:endParaRPr/>
          </a:p>
        </p:txBody>
      </p:sp>
      <p:pic>
        <p:nvPicPr>
          <p:cNvPr id="649" name="Google Shape;64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71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7"/>
          <p:cNvSpPr/>
          <p:nvPr/>
        </p:nvSpPr>
        <p:spPr>
          <a:xfrm>
            <a:off x="647050" y="1614525"/>
            <a:ext cx="7959300" cy="2852700"/>
          </a:xfrm>
          <a:prstGeom prst="roundRect">
            <a:avLst>
              <a:gd fmla="val 3456" name="adj"/>
            </a:avLst>
          </a:prstGeom>
          <a:solidFill>
            <a:srgbClr val="FFFFFF"/>
          </a:solidFill>
          <a:ln cap="flat" cmpd="sng" w="1905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Consideraciones: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057275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El ajuste se realiza considerando el EPT sin HDM.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Criterios: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057275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La franquicia debe tener al menos 5 vendors.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057275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El vendor debe tener al menos un volumen de 30 orders.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057275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El FIR del vendor no supera el 80%.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057275" rtl="0" algn="l">
              <a:spcBef>
                <a:spcPts val="1000"/>
              </a:spcBef>
              <a:spcAft>
                <a:spcPts val="1000"/>
              </a:spcAft>
              <a:buClr>
                <a:srgbClr val="100522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El ajuste de EPT debe ser de al menos 3 minutos.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5" name="Google Shape;655;p67"/>
          <p:cNvSpPr txBox="1"/>
          <p:nvPr/>
        </p:nvSpPr>
        <p:spPr>
          <a:xfrm>
            <a:off x="647050" y="553625"/>
            <a:ext cx="55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RULES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b="1" lang="en" sz="24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Criterios EPT reduction</a:t>
            </a:r>
            <a:endParaRPr sz="2100">
              <a:solidFill>
                <a:srgbClr val="4C43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 Performance</a:t>
            </a:r>
            <a:endParaRPr/>
          </a:p>
        </p:txBody>
      </p:sp>
      <p:sp>
        <p:nvSpPr>
          <p:cNvPr id="661" name="Google Shape;661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9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67" name="Google Shape;667;p69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8" name="Google Shape;668;p69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9"/>
          <p:cNvSpPr txBox="1"/>
          <p:nvPr/>
        </p:nvSpPr>
        <p:spPr>
          <a:xfrm>
            <a:off x="8665595" y="4744575"/>
            <a:ext cx="430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A005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rgbClr val="FA00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" name="Google Shape;670;p69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1" name="Google Shape;671;p69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2" name="Google Shape;67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9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74" name="Google Shape;67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96213"/>
            <a:ext cx="8839198" cy="3665033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69"/>
          <p:cNvSpPr txBox="1"/>
          <p:nvPr/>
        </p:nvSpPr>
        <p:spPr>
          <a:xfrm>
            <a:off x="304175" y="518500"/>
            <a:ext cx="37884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Extraido desde mesa food para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0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1" name="Google Shape;681;p70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82" name="Google Shape;682;p70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70"/>
          <p:cNvSpPr txBox="1"/>
          <p:nvPr/>
        </p:nvSpPr>
        <p:spPr>
          <a:xfrm>
            <a:off x="8665595" y="4744575"/>
            <a:ext cx="430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A005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rgbClr val="FA00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4" name="Google Shape;684;p70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70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6" name="Google Shape;68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0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688" name="Google Shape;688;p70"/>
          <p:cNvGraphicFramePr/>
          <p:nvPr/>
        </p:nvGraphicFramePr>
        <p:xfrm>
          <a:off x="3273500" y="179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52500"/>
                <a:gridCol w="1047750"/>
                <a:gridCol w="981075"/>
              </a:tblGrid>
              <a:tr h="2095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 de junio al 30 de junio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617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875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255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7387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3169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187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749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28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9" name="Google Shape;689;p70"/>
          <p:cNvSpPr txBox="1"/>
          <p:nvPr/>
        </p:nvSpPr>
        <p:spPr>
          <a:xfrm>
            <a:off x="304175" y="518500"/>
            <a:ext cx="37884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Extraido desde mesa food para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1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95" name="Google Shape;695;p71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6" name="Google Shape;696;p7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71"/>
          <p:cNvSpPr txBox="1"/>
          <p:nvPr/>
        </p:nvSpPr>
        <p:spPr>
          <a:xfrm>
            <a:off x="8665595" y="4744575"/>
            <a:ext cx="430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A005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rgbClr val="FA00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p71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0" name="Google Shape;70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71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702" name="Google Shape;702;p71"/>
          <p:cNvGraphicFramePr/>
          <p:nvPr/>
        </p:nvGraphicFramePr>
        <p:xfrm>
          <a:off x="2505063" y="14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52500"/>
                <a:gridCol w="952500"/>
                <a:gridCol w="1276350"/>
                <a:gridCol w="952500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TREATMENT LEVEL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 hMerge="1"/>
                <a:tc hMerge="1"/>
                <a:tc hMerge="1"/>
              </a:tr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 de junio al 30 de junio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B7B7B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348,084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256,467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73.68%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perdidas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13,132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6,150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46.83%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361,216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262,617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72.70%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03" name="Google Shape;703;p71"/>
          <p:cNvGraphicFramePr/>
          <p:nvPr/>
        </p:nvGraphicFramePr>
        <p:xfrm>
          <a:off x="2986088" y="327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52500"/>
                <a:gridCol w="22193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0.98%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saved seamless - treatment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4" name="Google Shape;704;p71"/>
          <p:cNvSpPr txBox="1"/>
          <p:nvPr/>
        </p:nvSpPr>
        <p:spPr>
          <a:xfrm>
            <a:off x="304175" y="518500"/>
            <a:ext cx="37884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Extraido desde mesa food para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2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10" name="Google Shape;710;p72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1" name="Google Shape;711;p72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2"/>
          <p:cNvSpPr txBox="1"/>
          <p:nvPr/>
        </p:nvSpPr>
        <p:spPr>
          <a:xfrm>
            <a:off x="8665595" y="4744575"/>
            <a:ext cx="430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A005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rgbClr val="FA00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3" name="Google Shape;713;p72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4" name="Google Shape;714;p72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5" name="Google Shape;71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72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7" name="Google Shape;717;p72"/>
          <p:cNvSpPr/>
          <p:nvPr/>
        </p:nvSpPr>
        <p:spPr>
          <a:xfrm>
            <a:off x="450800" y="982875"/>
            <a:ext cx="3118500" cy="191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AWT semanal y created to p</a:t>
            </a:r>
            <a:endParaRPr/>
          </a:p>
        </p:txBody>
      </p:sp>
      <p:sp>
        <p:nvSpPr>
          <p:cNvPr id="718" name="Google Shape;718;p72"/>
          <p:cNvSpPr/>
          <p:nvPr/>
        </p:nvSpPr>
        <p:spPr>
          <a:xfrm>
            <a:off x="4143775" y="982875"/>
            <a:ext cx="3118500" cy="191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NSE</a:t>
            </a:r>
            <a:endParaRPr/>
          </a:p>
        </p:txBody>
      </p:sp>
      <p:sp>
        <p:nvSpPr>
          <p:cNvPr id="719" name="Google Shape;719;p72"/>
          <p:cNvSpPr/>
          <p:nvPr/>
        </p:nvSpPr>
        <p:spPr>
          <a:xfrm>
            <a:off x="450800" y="3056700"/>
            <a:ext cx="3118500" cy="191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Órdenes</a:t>
            </a:r>
            <a:endParaRPr/>
          </a:p>
        </p:txBody>
      </p:sp>
      <p:sp>
        <p:nvSpPr>
          <p:cNvPr id="720" name="Google Shape;720;p72"/>
          <p:cNvSpPr/>
          <p:nvPr/>
        </p:nvSpPr>
        <p:spPr>
          <a:xfrm>
            <a:off x="4143775" y="3090875"/>
            <a:ext cx="3118500" cy="191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Cierres por AWT, hroas cerraadas y % del open time que eso representa.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3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26" name="Google Shape;726;p73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7" name="Google Shape;727;p73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73"/>
          <p:cNvSpPr txBox="1"/>
          <p:nvPr/>
        </p:nvSpPr>
        <p:spPr>
          <a:xfrm>
            <a:off x="8665595" y="4744575"/>
            <a:ext cx="430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A005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rgbClr val="FA00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9" name="Google Shape;729;p73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0" name="Google Shape;730;p73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1" name="Google Shape;73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73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3" name="Google Shape;733;p73"/>
          <p:cNvSpPr txBox="1"/>
          <p:nvPr/>
        </p:nvSpPr>
        <p:spPr>
          <a:xfrm>
            <a:off x="128600" y="4810675"/>
            <a:ext cx="3804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Data: McDonald’s 01 al 06 de julio 2026.</a:t>
            </a:r>
            <a:endParaRPr i="1" sz="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4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Plan Food CL 2026 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39" name="Google Shape;739;p74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40" name="Google Shape;740;p74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74"/>
          <p:cNvSpPr txBox="1"/>
          <p:nvPr/>
        </p:nvSpPr>
        <p:spPr>
          <a:xfrm>
            <a:off x="8665595" y="4744575"/>
            <a:ext cx="430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A005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rgbClr val="FA00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2" name="Google Shape;742;p74"/>
          <p:cNvSpPr/>
          <p:nvPr/>
        </p:nvSpPr>
        <p:spPr>
          <a:xfrm>
            <a:off x="7262275" y="39625"/>
            <a:ext cx="1829400" cy="265800"/>
          </a:xfrm>
          <a:prstGeom prst="homePlate">
            <a:avLst>
              <a:gd fmla="val 15646" name="adj"/>
            </a:avLst>
          </a:prstGeom>
          <a:solidFill>
            <a:srgbClr val="F90050"/>
          </a:solidFill>
          <a:ln cap="flat" cmpd="sng" w="9525">
            <a:solidFill>
              <a:srgbClr val="F90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endParaRPr b="1"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3" name="Google Shape;743;p74"/>
          <p:cNvSpPr/>
          <p:nvPr/>
        </p:nvSpPr>
        <p:spPr>
          <a:xfrm>
            <a:off x="7092163" y="46578"/>
            <a:ext cx="277500" cy="258000"/>
          </a:xfrm>
          <a:prstGeom prst="ellipse">
            <a:avLst/>
          </a:prstGeom>
          <a:solidFill>
            <a:srgbClr val="70697A"/>
          </a:solidFill>
          <a:ln cap="flat" cmpd="sng" w="9525">
            <a:solidFill>
              <a:srgbClr val="4C43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4" name="Google Shape;7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939" y="6650"/>
            <a:ext cx="277500" cy="2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74"/>
          <p:cNvSpPr txBox="1"/>
          <p:nvPr/>
        </p:nvSpPr>
        <p:spPr>
          <a:xfrm>
            <a:off x="6524053" y="-54"/>
            <a:ext cx="113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Cris</a:t>
            </a:r>
            <a:endParaRPr sz="9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46" name="Google Shape;746;p74"/>
          <p:cNvSpPr txBox="1"/>
          <p:nvPr/>
        </p:nvSpPr>
        <p:spPr>
          <a:xfrm>
            <a:off x="128600" y="4810675"/>
            <a:ext cx="3804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Data: McDonald’s 01 al 06 de julio 2026.</a:t>
            </a:r>
            <a:endParaRPr i="1" sz="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47" name="Google Shape;747;p74"/>
          <p:cNvGrpSpPr/>
          <p:nvPr/>
        </p:nvGrpSpPr>
        <p:grpSpPr>
          <a:xfrm>
            <a:off x="440095" y="3488003"/>
            <a:ext cx="2449418" cy="963669"/>
            <a:chOff x="4075875" y="2263100"/>
            <a:chExt cx="1072425" cy="559200"/>
          </a:xfrm>
        </p:grpSpPr>
        <p:sp>
          <p:nvSpPr>
            <p:cNvPr id="748" name="Google Shape;748;p74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Oportunidad de activar más en los grades más bajos.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49" name="Google Shape;749;p74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pic>
        <p:nvPicPr>
          <p:cNvPr id="750" name="Google Shape;75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913" y="501187"/>
            <a:ext cx="8910181" cy="2692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74"/>
          <p:cNvGrpSpPr/>
          <p:nvPr/>
        </p:nvGrpSpPr>
        <p:grpSpPr>
          <a:xfrm>
            <a:off x="3307970" y="3488003"/>
            <a:ext cx="2449418" cy="963669"/>
            <a:chOff x="4075875" y="2263100"/>
            <a:chExt cx="1072425" cy="559200"/>
          </a:xfrm>
        </p:grpSpPr>
        <p:sp>
          <p:nvSpPr>
            <p:cNvPr id="752" name="Google Shape;752;p74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Necesidad de una mejor señal desde Food is Ready.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53" name="Google Shape;753;p74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grpSp>
        <p:nvGrpSpPr>
          <p:cNvPr id="754" name="Google Shape;754;p74"/>
          <p:cNvGrpSpPr/>
          <p:nvPr/>
        </p:nvGrpSpPr>
        <p:grpSpPr>
          <a:xfrm>
            <a:off x="6175845" y="3488003"/>
            <a:ext cx="2449418" cy="963669"/>
            <a:chOff x="4075875" y="2263100"/>
            <a:chExt cx="1072425" cy="559200"/>
          </a:xfrm>
        </p:grpSpPr>
        <p:sp>
          <p:nvSpPr>
            <p:cNvPr id="755" name="Google Shape;755;p74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Calibración de tiempo adicional en grade AAA.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56" name="Google Shape;756;p74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5"/>
          <p:cNvSpPr txBox="1"/>
          <p:nvPr/>
        </p:nvSpPr>
        <p:spPr>
          <a:xfrm>
            <a:off x="647050" y="553625"/>
            <a:ext cx="55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A0050"/>
                </a:solidFill>
                <a:latin typeface="Outfit Medium"/>
                <a:ea typeface="Outfit Medium"/>
                <a:cs typeface="Outfit Medium"/>
                <a:sym typeface="Outfit Medium"/>
              </a:rPr>
              <a:t>RECAP</a:t>
            </a:r>
            <a:br>
              <a:rPr lang="en" sz="1200">
                <a:solidFill>
                  <a:srgbClr val="10042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b="1" lang="en" sz="2400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Tipos de Triggers de Cierre AWT</a:t>
            </a:r>
            <a:endParaRPr sz="2100">
              <a:solidFill>
                <a:srgbClr val="4C43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62" name="Google Shape;762;p75"/>
          <p:cNvGrpSpPr/>
          <p:nvPr/>
        </p:nvGrpSpPr>
        <p:grpSpPr>
          <a:xfrm>
            <a:off x="537637" y="1614514"/>
            <a:ext cx="1895403" cy="1338837"/>
            <a:chOff x="4075875" y="2263100"/>
            <a:chExt cx="1072425" cy="559200"/>
          </a:xfrm>
        </p:grpSpPr>
        <p:sp>
          <p:nvSpPr>
            <p:cNvPr id="763" name="Google Shape;763;p75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Con posibilidad de apertura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4" name="Google Shape;764;p75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FF8159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grpSp>
        <p:nvGrpSpPr>
          <p:cNvPr id="765" name="Google Shape;765;p75"/>
          <p:cNvGrpSpPr/>
          <p:nvPr/>
        </p:nvGrpSpPr>
        <p:grpSpPr>
          <a:xfrm>
            <a:off x="537637" y="3128431"/>
            <a:ext cx="1895403" cy="1338837"/>
            <a:chOff x="4075875" y="2263100"/>
            <a:chExt cx="1072425" cy="559200"/>
          </a:xfrm>
        </p:grpSpPr>
        <p:sp>
          <p:nvSpPr>
            <p:cNvPr id="766" name="Google Shape;766;p75"/>
            <p:cNvSpPr/>
            <p:nvPr/>
          </p:nvSpPr>
          <p:spPr>
            <a:xfrm>
              <a:off x="4089300" y="2263100"/>
              <a:ext cx="1059000" cy="559200"/>
            </a:xfrm>
            <a:prstGeom prst="roundRect">
              <a:avLst>
                <a:gd fmla="val 4828" name="adj"/>
              </a:avLst>
            </a:prstGeom>
            <a:solidFill>
              <a:srgbClr val="FFFFFF"/>
            </a:solidFill>
            <a:ln cap="flat" cmpd="sng" w="17500">
              <a:solidFill>
                <a:srgbClr val="DBDA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32175" spcFirstLastPara="1" rIns="660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9">
                  <a:solidFill>
                    <a:srgbClr val="100423"/>
                  </a:solidFill>
                  <a:latin typeface="Outfit"/>
                  <a:ea typeface="Outfit"/>
                  <a:cs typeface="Outfit"/>
                  <a:sym typeface="Outfit"/>
                </a:rPr>
                <a:t>Sin posibilidad de apertura</a:t>
              </a:r>
              <a:endParaRPr b="1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7" name="Google Shape;767;p75"/>
            <p:cNvSpPr/>
            <p:nvPr/>
          </p:nvSpPr>
          <p:spPr>
            <a:xfrm>
              <a:off x="4075875" y="2298800"/>
              <a:ext cx="27900" cy="487800"/>
            </a:xfrm>
            <a:prstGeom prst="roundRect">
              <a:avLst>
                <a:gd fmla="val 25842" name="adj"/>
              </a:avLst>
            </a:prstGeom>
            <a:solidFill>
              <a:srgbClr val="DB0044"/>
            </a:solidFill>
            <a:ln>
              <a:noFill/>
            </a:ln>
          </p:spPr>
          <p:txBody>
            <a:bodyPr anchorCtr="0" anchor="ctr" bIns="167825" lIns="167825" spcFirstLastPara="1" rIns="167825" wrap="square" tIns="16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70"/>
            </a:p>
          </p:txBody>
        </p:sp>
      </p:grpSp>
      <p:sp>
        <p:nvSpPr>
          <p:cNvPr id="768" name="Google Shape;768;p75"/>
          <p:cNvSpPr/>
          <p:nvPr/>
        </p:nvSpPr>
        <p:spPr>
          <a:xfrm>
            <a:off x="4647575" y="1614525"/>
            <a:ext cx="3958800" cy="2852700"/>
          </a:xfrm>
          <a:prstGeom prst="roundRect">
            <a:avLst>
              <a:gd fmla="val 3456" name="adj"/>
            </a:avLst>
          </a:prstGeom>
          <a:solidFill>
            <a:srgbClr val="FFFFFF"/>
          </a:solidFill>
          <a:ln cap="flat" cmpd="sng" w="1905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u="sng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¿Cómo funcionan?</a:t>
            </a:r>
            <a:endParaRPr b="1" u="sng"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 Umbrales de: 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423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Órdenes en cola.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423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Riders near store.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100522"/>
              </a:buClr>
              <a:buSzPts val="1400"/>
              <a:buFont typeface="Outfit"/>
              <a:buChar char="◆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AWT</a:t>
            </a: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146050" lvl="0" marL="142875" rtl="0" algn="l">
              <a:spcBef>
                <a:spcPts val="1000"/>
              </a:spcBef>
              <a:spcAft>
                <a:spcPts val="1000"/>
              </a:spcAft>
              <a:buClr>
                <a:srgbClr val="919191"/>
              </a:buClr>
              <a:buSzPts val="1400"/>
              <a:buFont typeface="Outfit"/>
              <a:buChar char="➔"/>
            </a:pPr>
            <a: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  <a:t>Una vez cruzados los 3 umbrales se activa el trigger: se cierra la store.</a:t>
            </a:r>
            <a:br>
              <a:rPr lang="en">
                <a:solidFill>
                  <a:srgbClr val="100522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10052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69" name="Google Shape;769;p75"/>
          <p:cNvSpPr/>
          <p:nvPr/>
        </p:nvSpPr>
        <p:spPr>
          <a:xfrm>
            <a:off x="2590889" y="3128431"/>
            <a:ext cx="1871700" cy="133890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 cap="flat" cmpd="sng" w="1750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32175" spcFirstLastPara="1" rIns="660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Activo desde:</a:t>
            </a:r>
            <a:b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Jueves 18 de junio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69">
                <a:solidFill>
                  <a:srgbClr val="FA0050"/>
                </a:solidFill>
                <a:latin typeface="Outfit"/>
                <a:ea typeface="Outfit"/>
                <a:cs typeface="Outfit"/>
                <a:sym typeface="Outfit"/>
              </a:rPr>
              <a:t>(nuevo)</a:t>
            </a:r>
            <a:endParaRPr i="1" sz="1469">
              <a:solidFill>
                <a:srgbClr val="FA005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70" name="Google Shape;770;p75"/>
          <p:cNvSpPr/>
          <p:nvPr/>
        </p:nvSpPr>
        <p:spPr>
          <a:xfrm>
            <a:off x="2590877" y="1614481"/>
            <a:ext cx="1871700" cy="133890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 cap="flat" cmpd="sng" w="17500">
            <a:solidFill>
              <a:srgbClr val="DB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32175" spcFirstLastPara="1" rIns="660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Activo desde:</a:t>
            </a:r>
            <a:b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2025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775" y="932851"/>
            <a:ext cx="6615797" cy="32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6"/>
          <p:cNvSpPr txBox="1"/>
          <p:nvPr/>
        </p:nvSpPr>
        <p:spPr>
          <a:xfrm>
            <a:off x="173250" y="219550"/>
            <a:ext cx="8332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Horas activas por día y trigger</a:t>
            </a:r>
            <a:endParaRPr b="1" sz="1800">
              <a:solidFill>
                <a:srgbClr val="FA0050"/>
              </a:solidFill>
            </a:endParaRPr>
          </a:p>
        </p:txBody>
      </p:sp>
      <p:sp>
        <p:nvSpPr>
          <p:cNvPr id="777" name="Google Shape;777;p76"/>
          <p:cNvSpPr txBox="1"/>
          <p:nvPr/>
        </p:nvSpPr>
        <p:spPr>
          <a:xfrm>
            <a:off x="2337050" y="4253325"/>
            <a:ext cx="583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W24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78" name="Google Shape;778;p76"/>
          <p:cNvSpPr txBox="1"/>
          <p:nvPr/>
        </p:nvSpPr>
        <p:spPr>
          <a:xfrm>
            <a:off x="5410150" y="4299075"/>
            <a:ext cx="583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W25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79" name="Google Shape;779;p76"/>
          <p:cNvSpPr txBox="1"/>
          <p:nvPr/>
        </p:nvSpPr>
        <p:spPr>
          <a:xfrm>
            <a:off x="7369700" y="4299075"/>
            <a:ext cx="583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W26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780" name="Google Shape;78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43824"/>
            <a:ext cx="9143999" cy="3760652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6"/>
          <p:cNvSpPr/>
          <p:nvPr/>
        </p:nvSpPr>
        <p:spPr>
          <a:xfrm>
            <a:off x="5547125" y="828100"/>
            <a:ext cx="3749400" cy="4058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76"/>
          <p:cNvSpPr txBox="1"/>
          <p:nvPr/>
        </p:nvSpPr>
        <p:spPr>
          <a:xfrm>
            <a:off x="4477050" y="114300"/>
            <a:ext cx="472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Esta data estaba con la lógica de solape con cualquier trigger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25" y="998950"/>
            <a:ext cx="7915301" cy="325532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7"/>
          <p:cNvSpPr txBox="1"/>
          <p:nvPr/>
        </p:nvSpPr>
        <p:spPr>
          <a:xfrm>
            <a:off x="173250" y="219550"/>
            <a:ext cx="8332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Horas activas por día y trigger - FIXED</a:t>
            </a:r>
            <a:endParaRPr b="1" sz="1800">
              <a:solidFill>
                <a:srgbClr val="FA0050"/>
              </a:solidFill>
            </a:endParaRPr>
          </a:p>
        </p:txBody>
      </p:sp>
      <p:sp>
        <p:nvSpPr>
          <p:cNvPr id="789" name="Google Shape;789;p77"/>
          <p:cNvSpPr txBox="1"/>
          <p:nvPr/>
        </p:nvSpPr>
        <p:spPr>
          <a:xfrm>
            <a:off x="2337050" y="4253325"/>
            <a:ext cx="583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W24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0" name="Google Shape;790;p77"/>
          <p:cNvSpPr txBox="1"/>
          <p:nvPr/>
        </p:nvSpPr>
        <p:spPr>
          <a:xfrm>
            <a:off x="5410150" y="4299075"/>
            <a:ext cx="583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W25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7369700" y="4299075"/>
            <a:ext cx="583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W26</a:t>
            </a:r>
            <a:endParaRPr sz="1469">
              <a:solidFill>
                <a:srgbClr val="10042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2" name="Google Shape;792;p77"/>
          <p:cNvSpPr/>
          <p:nvPr/>
        </p:nvSpPr>
        <p:spPr>
          <a:xfrm>
            <a:off x="5196425" y="718500"/>
            <a:ext cx="3749400" cy="4058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8"/>
          <p:cNvSpPr txBox="1"/>
          <p:nvPr/>
        </p:nvSpPr>
        <p:spPr>
          <a:xfrm>
            <a:off x="173250" y="219550"/>
            <a:ext cx="833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¿Cómo los estimamos? Promediamos ventanas pasadas.</a:t>
            </a:r>
            <a:endParaRPr b="1" sz="1800">
              <a:solidFill>
                <a:srgbClr val="FA0050"/>
              </a:solidFill>
            </a:endParaRPr>
          </a:p>
        </p:txBody>
      </p:sp>
      <p:pic>
        <p:nvPicPr>
          <p:cNvPr id="798" name="Google Shape;79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9275"/>
            <a:ext cx="5731576" cy="3105254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8"/>
          <p:cNvSpPr txBox="1"/>
          <p:nvPr/>
        </p:nvSpPr>
        <p:spPr>
          <a:xfrm>
            <a:off x="5883975" y="387700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Data: 18/06 al 23/06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Estimación de órdenes no ingresadas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de la estimación: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~2200 órdenes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00" name="Google Shape;800;p78"/>
          <p:cNvGraphicFramePr/>
          <p:nvPr/>
        </p:nvGraphicFramePr>
        <p:xfrm>
          <a:off x="5966825" y="1014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795025"/>
                <a:gridCol w="1149725"/>
                <a:gridCol w="972375"/>
              </a:tblGrid>
              <a:tr h="40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posibilidad de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 posibilidad de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1092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532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55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154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1" name="Google Shape;801;p78"/>
          <p:cNvSpPr txBox="1"/>
          <p:nvPr/>
        </p:nvSpPr>
        <p:spPr>
          <a:xfrm>
            <a:off x="4477050" y="114300"/>
            <a:ext cx="472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Esta data estaba con la lógica de solape con cualquier trigger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9"/>
          <p:cNvSpPr txBox="1"/>
          <p:nvPr/>
        </p:nvSpPr>
        <p:spPr>
          <a:xfrm>
            <a:off x="173250" y="219550"/>
            <a:ext cx="833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¿Cómo los estimamos? Promediamos ventanas pasadas.</a:t>
            </a:r>
            <a:endParaRPr b="1" sz="1800">
              <a:solidFill>
                <a:srgbClr val="FA0050"/>
              </a:solidFill>
            </a:endParaRPr>
          </a:p>
        </p:txBody>
      </p:sp>
      <p:pic>
        <p:nvPicPr>
          <p:cNvPr id="807" name="Google Shape;80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9275"/>
            <a:ext cx="5731576" cy="3105254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9"/>
          <p:cNvSpPr txBox="1"/>
          <p:nvPr/>
        </p:nvSpPr>
        <p:spPr>
          <a:xfrm>
            <a:off x="5883975" y="387700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Data: 18/06 al 23/06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Estimación de órdenes no ingresadas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de la estimación: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~2200 órdenes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09" name="Google Shape;809;p79"/>
          <p:cNvGraphicFramePr/>
          <p:nvPr/>
        </p:nvGraphicFramePr>
        <p:xfrm>
          <a:off x="5966825" y="1014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795025"/>
                <a:gridCol w="1149725"/>
                <a:gridCol w="972375"/>
              </a:tblGrid>
              <a:tr h="40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208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378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76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2573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95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1276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105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75" y="1096975"/>
            <a:ext cx="6252051" cy="31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80"/>
          <p:cNvSpPr txBox="1"/>
          <p:nvPr/>
        </p:nvSpPr>
        <p:spPr>
          <a:xfrm>
            <a:off x="105675" y="96650"/>
            <a:ext cx="87972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Con los triggers de cierre por AWT, evitamos los horarios saturados definidos según umbrales de cierre. </a:t>
            </a:r>
            <a:endParaRPr b="1" sz="1800">
              <a:solidFill>
                <a:srgbClr val="FA0050"/>
              </a:solidFill>
            </a:endParaRPr>
          </a:p>
        </p:txBody>
      </p:sp>
      <p:sp>
        <p:nvSpPr>
          <p:cNvPr id="816" name="Google Shape;816;p80"/>
          <p:cNvSpPr txBox="1"/>
          <p:nvPr/>
        </p:nvSpPr>
        <p:spPr>
          <a:xfrm>
            <a:off x="3724850" y="1635225"/>
            <a:ext cx="562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X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1404150" y="1778800"/>
            <a:ext cx="562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X</a:t>
            </a:r>
            <a:endParaRPr b="1" sz="1800">
              <a:solidFill>
                <a:schemeClr val="lt1"/>
              </a:solidFill>
            </a:endParaRPr>
          </a:p>
        </p:txBody>
      </p:sp>
      <p:graphicFrame>
        <p:nvGraphicFramePr>
          <p:cNvPr id="818" name="Google Shape;818;p80"/>
          <p:cNvGraphicFramePr/>
          <p:nvPr/>
        </p:nvGraphicFramePr>
        <p:xfrm>
          <a:off x="6737050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1015750"/>
                <a:gridCol w="1015750"/>
              </a:tblGrid>
              <a:tr h="5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Grade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en saturación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43%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51%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44%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  <a:tr h="35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66%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0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81"/>
          <p:cNvSpPr txBox="1"/>
          <p:nvPr/>
        </p:nvSpPr>
        <p:spPr>
          <a:xfrm>
            <a:off x="141500" y="98900"/>
            <a:ext cx="8332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Resultados: Non-Seamless</a:t>
            </a:r>
            <a:r>
              <a:rPr b="1" lang="en" sz="2200">
                <a:solidFill>
                  <a:srgbClr val="FF0000"/>
                </a:solidFill>
              </a:rPr>
              <a:t> </a:t>
            </a:r>
            <a:r>
              <a:rPr b="1" lang="en" sz="1800">
                <a:solidFill>
                  <a:srgbClr val="FA0050"/>
                </a:solidFill>
              </a:rPr>
              <a:t>evitado</a:t>
            </a:r>
            <a:endParaRPr b="1" sz="2200">
              <a:solidFill>
                <a:srgbClr val="FF0000"/>
              </a:solidFill>
            </a:endParaRPr>
          </a:p>
        </p:txBody>
      </p:sp>
      <p:graphicFrame>
        <p:nvGraphicFramePr>
          <p:cNvPr id="824" name="Google Shape;824;p81"/>
          <p:cNvGraphicFramePr/>
          <p:nvPr/>
        </p:nvGraphicFramePr>
        <p:xfrm>
          <a:off x="1911738" y="16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70350"/>
                <a:gridCol w="1207975"/>
                <a:gridCol w="1406025"/>
                <a:gridCol w="1207975"/>
              </a:tblGrid>
              <a:tr h="37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orders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111,483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83,372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74.78%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perdidas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2,200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1,044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47.45%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113,683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84,416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74.26%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5" name="Google Shape;825;p81"/>
          <p:cNvSpPr txBox="1"/>
          <p:nvPr/>
        </p:nvSpPr>
        <p:spPr>
          <a:xfrm>
            <a:off x="3293550" y="3481525"/>
            <a:ext cx="25569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+0.52pp seamless</a:t>
            </a:r>
            <a:endParaRPr b="1"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2"/>
          <p:cNvSpPr txBox="1"/>
          <p:nvPr/>
        </p:nvSpPr>
        <p:spPr>
          <a:xfrm>
            <a:off x="141500" y="98900"/>
            <a:ext cx="8332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Resultados: Non-Seamless</a:t>
            </a:r>
            <a:r>
              <a:rPr b="1" lang="en" sz="2200">
                <a:solidFill>
                  <a:srgbClr val="FF0000"/>
                </a:solidFill>
              </a:rPr>
              <a:t> </a:t>
            </a:r>
            <a:r>
              <a:rPr b="1" lang="en" sz="1800">
                <a:solidFill>
                  <a:srgbClr val="FA0050"/>
                </a:solidFill>
              </a:rPr>
              <a:t>evitado</a:t>
            </a:r>
            <a:endParaRPr b="1" sz="2200">
              <a:solidFill>
                <a:srgbClr val="FF0000"/>
              </a:solidFill>
            </a:endParaRPr>
          </a:p>
        </p:txBody>
      </p:sp>
      <p:graphicFrame>
        <p:nvGraphicFramePr>
          <p:cNvPr id="831" name="Google Shape;831;p82"/>
          <p:cNvGraphicFramePr/>
          <p:nvPr/>
        </p:nvGraphicFramePr>
        <p:xfrm>
          <a:off x="1809025" y="144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1273250"/>
                <a:gridCol w="1273250"/>
                <a:gridCol w="1706175"/>
                <a:gridCol w="1273250"/>
              </a:tblGrid>
              <a:tr h="58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orders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 orders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seamless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4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143,130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103,409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72.25%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perdidas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5,266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2,485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47.18%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148,396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105,894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71.36%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2" name="Google Shape;832;p82"/>
          <p:cNvSpPr txBox="1"/>
          <p:nvPr/>
        </p:nvSpPr>
        <p:spPr>
          <a:xfrm>
            <a:off x="2343900" y="3580950"/>
            <a:ext cx="44562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+0.89pp saved seamless - treatment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833" name="Google Shape;833;p82"/>
          <p:cNvSpPr txBox="1"/>
          <p:nvPr/>
        </p:nvSpPr>
        <p:spPr>
          <a:xfrm>
            <a:off x="2343900" y="4091850"/>
            <a:ext cx="44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FA0050"/>
                </a:solidFill>
              </a:rPr>
              <a:t>(+0.22pp saved seamless - CL)</a:t>
            </a:r>
            <a:endParaRPr b="1" i="1" sz="1800">
              <a:solidFill>
                <a:srgbClr val="FF0000"/>
              </a:solidFill>
            </a:endParaRPr>
          </a:p>
        </p:txBody>
      </p:sp>
      <p:sp>
        <p:nvSpPr>
          <p:cNvPr id="834" name="Google Shape;834;p82"/>
          <p:cNvSpPr txBox="1"/>
          <p:nvPr/>
        </p:nvSpPr>
        <p:spPr>
          <a:xfrm>
            <a:off x="4287225" y="149000"/>
            <a:ext cx="47259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Se incluye el 23 de junio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3"/>
          <p:cNvSpPr txBox="1"/>
          <p:nvPr/>
        </p:nvSpPr>
        <p:spPr>
          <a:xfrm>
            <a:off x="141500" y="98900"/>
            <a:ext cx="8332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0050"/>
                </a:solidFill>
              </a:rPr>
              <a:t>Resultados: Non-Seamless</a:t>
            </a:r>
            <a:r>
              <a:rPr b="1" lang="en" sz="2200">
                <a:solidFill>
                  <a:srgbClr val="FF0000"/>
                </a:solidFill>
              </a:rPr>
              <a:t> </a:t>
            </a:r>
            <a:r>
              <a:rPr b="1" lang="en" sz="1800">
                <a:solidFill>
                  <a:srgbClr val="FA0050"/>
                </a:solidFill>
              </a:rPr>
              <a:t>evitado</a:t>
            </a:r>
            <a:endParaRPr b="1" sz="2200">
              <a:solidFill>
                <a:srgbClr val="FF0000"/>
              </a:solidFill>
            </a:endParaRPr>
          </a:p>
        </p:txBody>
      </p:sp>
      <p:graphicFrame>
        <p:nvGraphicFramePr>
          <p:cNvPr id="840" name="Google Shape;840;p83"/>
          <p:cNvGraphicFramePr/>
          <p:nvPr/>
        </p:nvGraphicFramePr>
        <p:xfrm>
          <a:off x="549975" y="155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33450"/>
                <a:gridCol w="1162050"/>
                <a:gridCol w="1162050"/>
                <a:gridCol w="1162050"/>
              </a:tblGrid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 apertura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57.23%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56.81%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56.39%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70.49%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69.72%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69.57%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76.42%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75.41%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75.38%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71.04%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70.35%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70.29%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67.76%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67.17%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67.14%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59.63%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59.75%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59.75%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72.25%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71.46%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71.36%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9050" marB="19050" marR="28575" marL="28575" anchor="b">
                    <a:lnL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41" name="Google Shape;841;p83"/>
          <p:cNvSpPr txBox="1"/>
          <p:nvPr/>
        </p:nvSpPr>
        <p:spPr>
          <a:xfrm>
            <a:off x="4287225" y="149000"/>
            <a:ext cx="47259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>
                <a:solidFill>
                  <a:srgbClr val="100423"/>
                </a:solidFill>
                <a:latin typeface="Outfit"/>
                <a:ea typeface="Outfit"/>
                <a:cs typeface="Outfit"/>
                <a:sym typeface="Outfit"/>
              </a:rPr>
              <a:t>No lo usamos pero igual updateado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4"/>
          <p:cNvSpPr txBox="1"/>
          <p:nvPr/>
        </p:nvSpPr>
        <p:spPr>
          <a:xfrm>
            <a:off x="141500" y="98900"/>
            <a:ext cx="8332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Seamless evitado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847" name="Google Shape;847;p84"/>
          <p:cNvSpPr/>
          <p:nvPr/>
        </p:nvSpPr>
        <p:spPr>
          <a:xfrm>
            <a:off x="951400" y="1505500"/>
            <a:ext cx="1425000" cy="1162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2,200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4"/>
          <p:cNvSpPr txBox="1"/>
          <p:nvPr/>
        </p:nvSpPr>
        <p:spPr>
          <a:xfrm>
            <a:off x="2542375" y="1726475"/>
            <a:ext cx="3456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Órdenes perdidas (estimadas)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9" name="Google Shape;849;p84"/>
          <p:cNvSpPr/>
          <p:nvPr/>
        </p:nvSpPr>
        <p:spPr>
          <a:xfrm>
            <a:off x="951400" y="3229700"/>
            <a:ext cx="1425000" cy="1162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47.45%</a:t>
            </a:r>
            <a:endParaRPr/>
          </a:p>
        </p:txBody>
      </p:sp>
      <p:sp>
        <p:nvSpPr>
          <p:cNvPr id="850" name="Google Shape;850;p84"/>
          <p:cNvSpPr txBox="1"/>
          <p:nvPr/>
        </p:nvSpPr>
        <p:spPr>
          <a:xfrm>
            <a:off x="2542375" y="3488450"/>
            <a:ext cx="3456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Seamless de la saturación (que ahora lo evitamos)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1" name="Google Shape;851;p84"/>
          <p:cNvCxnSpPr>
            <a:stCxn id="848" idx="3"/>
          </p:cNvCxnSpPr>
          <p:nvPr/>
        </p:nvCxnSpPr>
        <p:spPr>
          <a:xfrm>
            <a:off x="5998975" y="2049125"/>
            <a:ext cx="686100" cy="7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84"/>
          <p:cNvCxnSpPr/>
          <p:nvPr/>
        </p:nvCxnSpPr>
        <p:spPr>
          <a:xfrm flipH="1" rot="10800000">
            <a:off x="6114450" y="2996950"/>
            <a:ext cx="723000" cy="8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" name="Google Shape;853;p84"/>
          <p:cNvSpPr txBox="1"/>
          <p:nvPr/>
        </p:nvSpPr>
        <p:spPr>
          <a:xfrm>
            <a:off x="6970550" y="2328000"/>
            <a:ext cx="22695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Seamless si es que no hubieramos tenido esto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AxB = ordenes seamless perdidas saturadas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>
                <a:solidFill>
                  <a:schemeClr val="dk2"/>
                </a:solidFill>
              </a:rPr>
              <a:t>Resultado real del día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4" name="Google Shape;854;p84"/>
          <p:cNvSpPr txBox="1"/>
          <p:nvPr/>
        </p:nvSpPr>
        <p:spPr>
          <a:xfrm>
            <a:off x="4028500" y="282825"/>
            <a:ext cx="9921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55" name="Google Shape;855;p84"/>
          <p:cNvGraphicFramePr/>
          <p:nvPr/>
        </p:nvGraphicFramePr>
        <p:xfrm>
          <a:off x="4087475" y="28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{3E7D233A-DCCE-491D-A815-6E57D5C6E797}</a:tableStyleId>
              </a:tblPr>
              <a:tblGrid>
                <a:gridCol w="952500"/>
                <a:gridCol w="952500"/>
                <a:gridCol w="952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orders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orders seamless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perdidas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6" name="Google Shape;856;p84"/>
          <p:cNvSpPr txBox="1"/>
          <p:nvPr/>
        </p:nvSpPr>
        <p:spPr>
          <a:xfrm>
            <a:off x="7161950" y="282825"/>
            <a:ext cx="22695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85% seamless estimado en lugar de 89%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5"/>
          <p:cNvSpPr/>
          <p:nvPr/>
        </p:nvSpPr>
        <p:spPr>
          <a:xfrm>
            <a:off x="2075800" y="1394625"/>
            <a:ext cx="3918000" cy="11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Según grade, según N riders esperando y M ordenes en cola y W minutos de awt</a:t>
            </a:r>
            <a:endParaRPr/>
          </a:p>
        </p:txBody>
      </p:sp>
      <p:sp>
        <p:nvSpPr>
          <p:cNvPr id="862" name="Google Shape;862;p85"/>
          <p:cNvSpPr txBox="1"/>
          <p:nvPr/>
        </p:nvSpPr>
        <p:spPr>
          <a:xfrm>
            <a:off x="173250" y="219550"/>
            <a:ext cx="8332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Tenemos 2 tipos de triggers de cierre según AWT… 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863" name="Google Shape;863;p85"/>
          <p:cNvSpPr txBox="1"/>
          <p:nvPr/>
        </p:nvSpPr>
        <p:spPr>
          <a:xfrm>
            <a:off x="215200" y="1544400"/>
            <a:ext cx="16485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 posibilidad de apertura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4" name="Google Shape;864;p85"/>
          <p:cNvSpPr txBox="1"/>
          <p:nvPr/>
        </p:nvSpPr>
        <p:spPr>
          <a:xfrm>
            <a:off x="278700" y="2935050"/>
            <a:ext cx="16485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Sin posibilidad de apertura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5" name="Google Shape;865;p85"/>
          <p:cNvSpPr txBox="1"/>
          <p:nvPr/>
        </p:nvSpPr>
        <p:spPr>
          <a:xfrm>
            <a:off x="2489200" y="857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Como funcionan</a:t>
            </a:r>
            <a:endParaRPr/>
          </a:p>
        </p:txBody>
      </p:sp>
      <p:sp>
        <p:nvSpPr>
          <p:cNvPr id="866" name="Google Shape;866;p85"/>
          <p:cNvSpPr/>
          <p:nvPr/>
        </p:nvSpPr>
        <p:spPr>
          <a:xfrm>
            <a:off x="2075800" y="2662200"/>
            <a:ext cx="3918000" cy="11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Según grade, según N riders esperando y M ordenes en cola y W minutos de awt</a:t>
            </a:r>
            <a:endParaRPr/>
          </a:p>
        </p:txBody>
      </p:sp>
      <p:sp>
        <p:nvSpPr>
          <p:cNvPr id="867" name="Google Shape;867;p85"/>
          <p:cNvSpPr txBox="1"/>
          <p:nvPr/>
        </p:nvSpPr>
        <p:spPr>
          <a:xfrm>
            <a:off x="6197600" y="857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Desde</a:t>
            </a:r>
            <a:endParaRPr/>
          </a:p>
        </p:txBody>
      </p:sp>
      <p:sp>
        <p:nvSpPr>
          <p:cNvPr id="868" name="Google Shape;868;p85"/>
          <p:cNvSpPr txBox="1"/>
          <p:nvPr/>
        </p:nvSpPr>
        <p:spPr>
          <a:xfrm>
            <a:off x="6482700" y="1623225"/>
            <a:ext cx="2368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9" name="Google Shape;869;p85"/>
          <p:cNvSpPr txBox="1"/>
          <p:nvPr/>
        </p:nvSpPr>
        <p:spPr>
          <a:xfrm>
            <a:off x="6513350" y="2848775"/>
            <a:ext cx="2368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18 de junio de 2026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0" name="Google Shape;870;p85"/>
          <p:cNvSpPr txBox="1"/>
          <p:nvPr/>
        </p:nvSpPr>
        <p:spPr>
          <a:xfrm>
            <a:off x="5993800" y="4699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Que entiendan lo que hicimos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71" name="Google Shape;871;p85"/>
          <p:cNvSpPr/>
          <p:nvPr/>
        </p:nvSpPr>
        <p:spPr>
          <a:xfrm>
            <a:off x="1308500" y="2848775"/>
            <a:ext cx="495300" cy="4572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Nuevo</a:t>
            </a:r>
            <a:endParaRPr sz="6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6"/>
          <p:cNvSpPr txBox="1"/>
          <p:nvPr/>
        </p:nvSpPr>
        <p:spPr>
          <a:xfrm>
            <a:off x="173250" y="219550"/>
            <a:ext cx="833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¿Cómo los estimamos?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877" name="Google Shape;877;p86"/>
          <p:cNvSpPr/>
          <p:nvPr/>
        </p:nvSpPr>
        <p:spPr>
          <a:xfrm>
            <a:off x="5960725" y="930450"/>
            <a:ext cx="2932800" cy="12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v1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 por grade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por día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Resultados v2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Tabla por grade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 por día </a:t>
            </a:r>
            <a:endParaRPr/>
          </a:p>
        </p:txBody>
      </p:sp>
      <p:graphicFrame>
        <p:nvGraphicFramePr>
          <p:cNvPr id="878" name="Google Shape;878;p86"/>
          <p:cNvGraphicFramePr/>
          <p:nvPr/>
        </p:nvGraphicFramePr>
        <p:xfrm>
          <a:off x="5719025" y="267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{B4A28873-30BD-423C-B209-231E7F0A251B}</a:tableStyleId>
              </a:tblPr>
              <a:tblGrid>
                <a:gridCol w="808200"/>
                <a:gridCol w="808200"/>
                <a:gridCol w="808200"/>
                <a:gridCol w="808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Lost ord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AAA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18jun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 orders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19/06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9" name="Google Shape;879;p86"/>
          <p:cNvSpPr txBox="1"/>
          <p:nvPr/>
        </p:nvSpPr>
        <p:spPr>
          <a:xfrm>
            <a:off x="4686500" y="4332550"/>
            <a:ext cx="43524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Resultado total = 5000 ordenes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7"/>
          <p:cNvSpPr txBox="1"/>
          <p:nvPr/>
        </p:nvSpPr>
        <p:spPr>
          <a:xfrm>
            <a:off x="173250" y="219550"/>
            <a:ext cx="8332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Activity </a:t>
            </a:r>
            <a:endParaRPr b="1" sz="2200">
              <a:solidFill>
                <a:srgbClr val="FF0000"/>
              </a:solidFill>
            </a:endParaRPr>
          </a:p>
        </p:txBody>
      </p:sp>
      <p:cxnSp>
        <p:nvCxnSpPr>
          <p:cNvPr id="885" name="Google Shape;885;p87"/>
          <p:cNvCxnSpPr/>
          <p:nvPr/>
        </p:nvCxnSpPr>
        <p:spPr>
          <a:xfrm flipH="1" rot="10800000">
            <a:off x="335100" y="3642050"/>
            <a:ext cx="82698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87"/>
          <p:cNvSpPr txBox="1"/>
          <p:nvPr/>
        </p:nvSpPr>
        <p:spPr>
          <a:xfrm>
            <a:off x="1859000" y="3841225"/>
            <a:ext cx="1738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Día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7" name="Google Shape;887;p87"/>
          <p:cNvSpPr/>
          <p:nvPr/>
        </p:nvSpPr>
        <p:spPr>
          <a:xfrm>
            <a:off x="1859000" y="2613938"/>
            <a:ext cx="575400" cy="103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88" name="Google Shape;888;p87"/>
          <p:cNvSpPr/>
          <p:nvPr/>
        </p:nvSpPr>
        <p:spPr>
          <a:xfrm>
            <a:off x="7085850" y="1581075"/>
            <a:ext cx="575400" cy="118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 apertura</a:t>
            </a:r>
            <a:endParaRPr/>
          </a:p>
        </p:txBody>
      </p:sp>
      <p:sp>
        <p:nvSpPr>
          <p:cNvPr id="889" name="Google Shape;889;p87"/>
          <p:cNvSpPr txBox="1"/>
          <p:nvPr/>
        </p:nvSpPr>
        <p:spPr>
          <a:xfrm>
            <a:off x="1845775" y="711125"/>
            <a:ext cx="6624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Minutos bloqueados</a:t>
            </a:r>
            <a:r>
              <a:rPr lang="en" sz="1800">
                <a:solidFill>
                  <a:schemeClr val="dk2"/>
                </a:solidFill>
              </a:rPr>
              <a:t> diarios por tipo de trigger de cierre AWT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0" name="Google Shape;890;p87"/>
          <p:cNvSpPr/>
          <p:nvPr/>
        </p:nvSpPr>
        <p:spPr>
          <a:xfrm>
            <a:off x="6387338" y="2943950"/>
            <a:ext cx="575400" cy="69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 apertura</a:t>
            </a:r>
            <a:endParaRPr/>
          </a:p>
        </p:txBody>
      </p:sp>
      <p:sp>
        <p:nvSpPr>
          <p:cNvPr id="891" name="Google Shape;891;p87"/>
          <p:cNvSpPr/>
          <p:nvPr/>
        </p:nvSpPr>
        <p:spPr>
          <a:xfrm>
            <a:off x="2596788" y="2272025"/>
            <a:ext cx="575400" cy="13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92" name="Google Shape;892;p87"/>
          <p:cNvSpPr/>
          <p:nvPr/>
        </p:nvSpPr>
        <p:spPr>
          <a:xfrm>
            <a:off x="3256000" y="1814225"/>
            <a:ext cx="575400" cy="18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93" name="Google Shape;893;p87"/>
          <p:cNvSpPr/>
          <p:nvPr/>
        </p:nvSpPr>
        <p:spPr>
          <a:xfrm>
            <a:off x="4115625" y="2093225"/>
            <a:ext cx="575400" cy="154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94" name="Google Shape;894;p87"/>
          <p:cNvSpPr/>
          <p:nvPr/>
        </p:nvSpPr>
        <p:spPr>
          <a:xfrm>
            <a:off x="4821675" y="2272025"/>
            <a:ext cx="575400" cy="13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5527700" y="1814213"/>
            <a:ext cx="575400" cy="18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96" name="Google Shape;896;p87"/>
          <p:cNvSpPr/>
          <p:nvPr/>
        </p:nvSpPr>
        <p:spPr>
          <a:xfrm>
            <a:off x="6387350" y="1560150"/>
            <a:ext cx="575400" cy="142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 apertura</a:t>
            </a:r>
            <a:endParaRPr/>
          </a:p>
        </p:txBody>
      </p:sp>
      <p:sp>
        <p:nvSpPr>
          <p:cNvPr id="897" name="Google Shape;897;p87"/>
          <p:cNvSpPr/>
          <p:nvPr/>
        </p:nvSpPr>
        <p:spPr>
          <a:xfrm>
            <a:off x="7085850" y="2736725"/>
            <a:ext cx="575400" cy="895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 apertura</a:t>
            </a:r>
            <a:endParaRPr/>
          </a:p>
        </p:txBody>
      </p:sp>
      <p:sp>
        <p:nvSpPr>
          <p:cNvPr id="898" name="Google Shape;898;p87"/>
          <p:cNvSpPr/>
          <p:nvPr/>
        </p:nvSpPr>
        <p:spPr>
          <a:xfrm>
            <a:off x="7784350" y="2952350"/>
            <a:ext cx="575400" cy="69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 apertura</a:t>
            </a:r>
            <a:endParaRPr/>
          </a:p>
        </p:txBody>
      </p:sp>
      <p:sp>
        <p:nvSpPr>
          <p:cNvPr id="899" name="Google Shape;899;p87"/>
          <p:cNvSpPr/>
          <p:nvPr/>
        </p:nvSpPr>
        <p:spPr>
          <a:xfrm>
            <a:off x="2412350" y="1394625"/>
            <a:ext cx="6283738" cy="1162050"/>
          </a:xfrm>
          <a:custGeom>
            <a:rect b="b" l="l" r="r" t="t"/>
            <a:pathLst>
              <a:path extrusionOk="0" h="46482" w="234950">
                <a:moveTo>
                  <a:pt x="0" y="46482"/>
                </a:moveTo>
                <a:cubicBezTo>
                  <a:pt x="3957" y="41207"/>
                  <a:pt x="12739" y="43060"/>
                  <a:pt x="19050" y="41148"/>
                </a:cubicBezTo>
                <a:cubicBezTo>
                  <a:pt x="29251" y="38057"/>
                  <a:pt x="40147" y="37693"/>
                  <a:pt x="50800" y="37338"/>
                </a:cubicBezTo>
                <a:cubicBezTo>
                  <a:pt x="58596" y="37078"/>
                  <a:pt x="66489" y="34697"/>
                  <a:pt x="74168" y="36068"/>
                </a:cubicBezTo>
                <a:cubicBezTo>
                  <a:pt x="81672" y="37408"/>
                  <a:pt x="88904" y="41211"/>
                  <a:pt x="96520" y="40894"/>
                </a:cubicBezTo>
                <a:cubicBezTo>
                  <a:pt x="105728" y="40510"/>
                  <a:pt x="113338" y="32757"/>
                  <a:pt x="122428" y="31242"/>
                </a:cubicBezTo>
                <a:cubicBezTo>
                  <a:pt x="144324" y="27593"/>
                  <a:pt x="164951" y="18437"/>
                  <a:pt x="185928" y="11176"/>
                </a:cubicBezTo>
                <a:cubicBezTo>
                  <a:pt x="190205" y="9695"/>
                  <a:pt x="195048" y="10675"/>
                  <a:pt x="199390" y="9398"/>
                </a:cubicBezTo>
                <a:cubicBezTo>
                  <a:pt x="211152" y="5939"/>
                  <a:pt x="223056" y="2974"/>
                  <a:pt x="23495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00" name="Google Shape;900;p87"/>
          <p:cNvSpPr txBox="1"/>
          <p:nvPr/>
        </p:nvSpPr>
        <p:spPr>
          <a:xfrm>
            <a:off x="275225" y="1080300"/>
            <a:ext cx="468900" cy="639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1" name="Google Shape;901;p87"/>
          <p:cNvSpPr txBox="1"/>
          <p:nvPr/>
        </p:nvSpPr>
        <p:spPr>
          <a:xfrm>
            <a:off x="4340475" y="3841225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Día 2</a:t>
            </a:r>
            <a:endParaRPr/>
          </a:p>
        </p:txBody>
      </p:sp>
      <p:sp>
        <p:nvSpPr>
          <p:cNvPr id="902" name="Google Shape;902;p87"/>
          <p:cNvSpPr txBox="1"/>
          <p:nvPr/>
        </p:nvSpPr>
        <p:spPr>
          <a:xfrm>
            <a:off x="5971750" y="4053825"/>
            <a:ext cx="3342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Impacto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 sz="1500">
                <a:solidFill>
                  <a:schemeClr val="dk2"/>
                </a:solidFill>
              </a:rPr>
              <a:t>Lost orders estimadas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" sz="1500">
                <a:solidFill>
                  <a:schemeClr val="dk2"/>
                </a:solidFill>
              </a:rPr>
              <a:t>Non seamless evitado 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7" name="Google Shape;907;p88"/>
          <p:cNvCxnSpPr/>
          <p:nvPr/>
        </p:nvCxnSpPr>
        <p:spPr>
          <a:xfrm>
            <a:off x="526400" y="3217075"/>
            <a:ext cx="82869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88"/>
          <p:cNvSpPr/>
          <p:nvPr/>
        </p:nvSpPr>
        <p:spPr>
          <a:xfrm>
            <a:off x="892625" y="747527"/>
            <a:ext cx="7829150" cy="2221600"/>
          </a:xfrm>
          <a:custGeom>
            <a:rect b="b" l="l" r="r" t="t"/>
            <a:pathLst>
              <a:path extrusionOk="0" h="88864" w="313166">
                <a:moveTo>
                  <a:pt x="0" y="86227"/>
                </a:moveTo>
                <a:cubicBezTo>
                  <a:pt x="3100" y="84899"/>
                  <a:pt x="4164" y="80779"/>
                  <a:pt x="5275" y="77595"/>
                </a:cubicBezTo>
                <a:cubicBezTo>
                  <a:pt x="8552" y="68202"/>
                  <a:pt x="10456" y="58385"/>
                  <a:pt x="13188" y="48820"/>
                </a:cubicBezTo>
                <a:cubicBezTo>
                  <a:pt x="13906" y="46307"/>
                  <a:pt x="14856" y="43801"/>
                  <a:pt x="16305" y="41626"/>
                </a:cubicBezTo>
                <a:cubicBezTo>
                  <a:pt x="17385" y="40006"/>
                  <a:pt x="20049" y="44351"/>
                  <a:pt x="21821" y="43545"/>
                </a:cubicBezTo>
                <a:cubicBezTo>
                  <a:pt x="24240" y="42446"/>
                  <a:pt x="26031" y="40192"/>
                  <a:pt x="27575" y="38030"/>
                </a:cubicBezTo>
                <a:cubicBezTo>
                  <a:pt x="30860" y="33431"/>
                  <a:pt x="32983" y="28104"/>
                  <a:pt x="35728" y="23163"/>
                </a:cubicBezTo>
                <a:cubicBezTo>
                  <a:pt x="38571" y="18045"/>
                  <a:pt x="45256" y="16272"/>
                  <a:pt x="49396" y="12132"/>
                </a:cubicBezTo>
                <a:cubicBezTo>
                  <a:pt x="52614" y="8914"/>
                  <a:pt x="56614" y="4766"/>
                  <a:pt x="61146" y="5178"/>
                </a:cubicBezTo>
                <a:cubicBezTo>
                  <a:pt x="63850" y="5424"/>
                  <a:pt x="65100" y="8951"/>
                  <a:pt x="66661" y="11173"/>
                </a:cubicBezTo>
                <a:cubicBezTo>
                  <a:pt x="71262" y="17721"/>
                  <a:pt x="73688" y="26274"/>
                  <a:pt x="80090" y="31076"/>
                </a:cubicBezTo>
                <a:cubicBezTo>
                  <a:pt x="86219" y="35674"/>
                  <a:pt x="96421" y="33409"/>
                  <a:pt x="101671" y="38989"/>
                </a:cubicBezTo>
                <a:cubicBezTo>
                  <a:pt x="108569" y="46320"/>
                  <a:pt x="109282" y="59334"/>
                  <a:pt x="117976" y="64406"/>
                </a:cubicBezTo>
                <a:cubicBezTo>
                  <a:pt x="121931" y="66713"/>
                  <a:pt x="126600" y="68594"/>
                  <a:pt x="131165" y="68243"/>
                </a:cubicBezTo>
                <a:cubicBezTo>
                  <a:pt x="135226" y="67930"/>
                  <a:pt x="138887" y="64282"/>
                  <a:pt x="142915" y="64886"/>
                </a:cubicBezTo>
                <a:cubicBezTo>
                  <a:pt x="148116" y="65666"/>
                  <a:pt x="149165" y="75677"/>
                  <a:pt x="154424" y="75677"/>
                </a:cubicBezTo>
                <a:cubicBezTo>
                  <a:pt x="172440" y="75677"/>
                  <a:pt x="183035" y="51564"/>
                  <a:pt x="189913" y="34912"/>
                </a:cubicBezTo>
                <a:cubicBezTo>
                  <a:pt x="194839" y="22985"/>
                  <a:pt x="197979" y="3969"/>
                  <a:pt x="210775" y="2301"/>
                </a:cubicBezTo>
                <a:cubicBezTo>
                  <a:pt x="214187" y="1856"/>
                  <a:pt x="217725" y="2045"/>
                  <a:pt x="221086" y="2780"/>
                </a:cubicBezTo>
                <a:cubicBezTo>
                  <a:pt x="223188" y="3240"/>
                  <a:pt x="224449" y="6137"/>
                  <a:pt x="226601" y="6137"/>
                </a:cubicBezTo>
                <a:cubicBezTo>
                  <a:pt x="232415" y="6137"/>
                  <a:pt x="238074" y="-2218"/>
                  <a:pt x="243147" y="622"/>
                </a:cubicBezTo>
                <a:cubicBezTo>
                  <a:pt x="248942" y="3867"/>
                  <a:pt x="251871" y="10655"/>
                  <a:pt x="255856" y="15969"/>
                </a:cubicBezTo>
                <a:cubicBezTo>
                  <a:pt x="267525" y="31527"/>
                  <a:pt x="279118" y="47195"/>
                  <a:pt x="289426" y="63687"/>
                </a:cubicBezTo>
                <a:cubicBezTo>
                  <a:pt x="295540" y="73469"/>
                  <a:pt x="308003" y="78550"/>
                  <a:pt x="313166" y="88865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09" name="Google Shape;909;p88"/>
          <p:cNvCxnSpPr/>
          <p:nvPr/>
        </p:nvCxnSpPr>
        <p:spPr>
          <a:xfrm>
            <a:off x="787600" y="1358200"/>
            <a:ext cx="8018100" cy="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0" name="Google Shape;910;p88"/>
          <p:cNvSpPr txBox="1"/>
          <p:nvPr/>
        </p:nvSpPr>
        <p:spPr>
          <a:xfrm>
            <a:off x="-1543850" y="1097375"/>
            <a:ext cx="2733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</a:rPr>
              <a:t>Umbral 5 QO = cierre</a:t>
            </a:r>
            <a:endParaRPr sz="1800" u="sng">
              <a:solidFill>
                <a:schemeClr val="dk2"/>
              </a:solidFill>
            </a:endParaRPr>
          </a:p>
        </p:txBody>
      </p:sp>
      <p:cxnSp>
        <p:nvCxnSpPr>
          <p:cNvPr id="911" name="Google Shape;911;p88"/>
          <p:cNvCxnSpPr/>
          <p:nvPr/>
        </p:nvCxnSpPr>
        <p:spPr>
          <a:xfrm flipH="1">
            <a:off x="1761850" y="649175"/>
            <a:ext cx="12000" cy="27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88"/>
          <p:cNvCxnSpPr/>
          <p:nvPr/>
        </p:nvCxnSpPr>
        <p:spPr>
          <a:xfrm flipH="1">
            <a:off x="2753525" y="609750"/>
            <a:ext cx="12000" cy="27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88"/>
          <p:cNvCxnSpPr/>
          <p:nvPr/>
        </p:nvCxnSpPr>
        <p:spPr>
          <a:xfrm flipH="1">
            <a:off x="5693500" y="609750"/>
            <a:ext cx="12000" cy="27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88"/>
          <p:cNvCxnSpPr/>
          <p:nvPr/>
        </p:nvCxnSpPr>
        <p:spPr>
          <a:xfrm flipH="1">
            <a:off x="7452500" y="649175"/>
            <a:ext cx="12000" cy="27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88"/>
          <p:cNvSpPr txBox="1"/>
          <p:nvPr/>
        </p:nvSpPr>
        <p:spPr>
          <a:xfrm>
            <a:off x="1501625" y="2618150"/>
            <a:ext cx="19197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13:05 - 13:48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916" name="Google Shape;916;p88"/>
          <p:cNvSpPr txBox="1"/>
          <p:nvPr/>
        </p:nvSpPr>
        <p:spPr>
          <a:xfrm>
            <a:off x="5658175" y="2600900"/>
            <a:ext cx="1919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19:11 - 20:30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917" name="Google Shape;917;p88"/>
          <p:cNvSpPr txBox="1"/>
          <p:nvPr/>
        </p:nvSpPr>
        <p:spPr>
          <a:xfrm>
            <a:off x="969000" y="4261850"/>
            <a:ext cx="31704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Performance en esos días del pasado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8" name="Google Shape;918;p88"/>
          <p:cNvSpPr/>
          <p:nvPr/>
        </p:nvSpPr>
        <p:spPr>
          <a:xfrm>
            <a:off x="1827800" y="894975"/>
            <a:ext cx="899200" cy="467575"/>
          </a:xfrm>
          <a:custGeom>
            <a:rect b="b" l="l" r="r" t="t"/>
            <a:pathLst>
              <a:path extrusionOk="0" h="18703" w="35968">
                <a:moveTo>
                  <a:pt x="0" y="18464"/>
                </a:moveTo>
                <a:lnTo>
                  <a:pt x="35968" y="18703"/>
                </a:lnTo>
                <a:lnTo>
                  <a:pt x="29974" y="5994"/>
                </a:lnTo>
                <a:lnTo>
                  <a:pt x="25897" y="0"/>
                </a:lnTo>
                <a:lnTo>
                  <a:pt x="18704" y="959"/>
                </a:lnTo>
                <a:lnTo>
                  <a:pt x="11030" y="4316"/>
                </a:lnTo>
                <a:lnTo>
                  <a:pt x="5275" y="11030"/>
                </a:lnTo>
                <a:lnTo>
                  <a:pt x="240" y="14627"/>
                </a:lnTo>
                <a:close/>
              </a:path>
            </a:pathLst>
          </a:custGeom>
          <a:solidFill>
            <a:srgbClr val="B03232">
              <a:alpha val="5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9" name="Google Shape;919;p88"/>
          <p:cNvSpPr/>
          <p:nvPr/>
        </p:nvSpPr>
        <p:spPr>
          <a:xfrm>
            <a:off x="5712400" y="781075"/>
            <a:ext cx="1768450" cy="641425"/>
          </a:xfrm>
          <a:custGeom>
            <a:rect b="b" l="l" r="r" t="t"/>
            <a:pathLst>
              <a:path extrusionOk="0" h="25657" w="70738">
                <a:moveTo>
                  <a:pt x="0" y="25657"/>
                </a:moveTo>
                <a:lnTo>
                  <a:pt x="70738" y="25657"/>
                </a:lnTo>
                <a:lnTo>
                  <a:pt x="53713" y="2637"/>
                </a:lnTo>
                <a:lnTo>
                  <a:pt x="47958" y="0"/>
                </a:lnTo>
                <a:lnTo>
                  <a:pt x="41004" y="3357"/>
                </a:lnTo>
                <a:lnTo>
                  <a:pt x="33571" y="5755"/>
                </a:lnTo>
                <a:lnTo>
                  <a:pt x="23260" y="1438"/>
                </a:lnTo>
                <a:lnTo>
                  <a:pt x="11989" y="3117"/>
                </a:lnTo>
                <a:lnTo>
                  <a:pt x="5995" y="13668"/>
                </a:lnTo>
                <a:close/>
              </a:path>
            </a:pathLst>
          </a:custGeom>
          <a:solidFill>
            <a:srgbClr val="B03232">
              <a:alpha val="5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20" name="Google Shape;920;p88"/>
          <p:cNvSpPr txBox="1"/>
          <p:nvPr/>
        </p:nvSpPr>
        <p:spPr>
          <a:xfrm>
            <a:off x="141500" y="98900"/>
            <a:ext cx="8332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Seamless evitado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921" name="Google Shape;921;p88"/>
          <p:cNvSpPr txBox="1"/>
          <p:nvPr/>
        </p:nvSpPr>
        <p:spPr>
          <a:xfrm>
            <a:off x="756900" y="3325350"/>
            <a:ext cx="1762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 QO = cierre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2" name="Google Shape;922;p88"/>
          <p:cNvSpPr txBox="1"/>
          <p:nvPr/>
        </p:nvSpPr>
        <p:spPr>
          <a:xfrm>
            <a:off x="2126600" y="933913"/>
            <a:ext cx="562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%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23" name="Google Shape;923;p88"/>
          <p:cNvSpPr txBox="1"/>
          <p:nvPr/>
        </p:nvSpPr>
        <p:spPr>
          <a:xfrm>
            <a:off x="6089000" y="948888"/>
            <a:ext cx="562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%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24" name="Google Shape;924;p88"/>
          <p:cNvSpPr txBox="1"/>
          <p:nvPr/>
        </p:nvSpPr>
        <p:spPr>
          <a:xfrm>
            <a:off x="2513950" y="677075"/>
            <a:ext cx="16254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Orders, seamless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5" name="Google Shape;925;p88"/>
          <p:cNvSpPr txBox="1"/>
          <p:nvPr/>
        </p:nvSpPr>
        <p:spPr>
          <a:xfrm>
            <a:off x="-1310325" y="767675"/>
            <a:ext cx="3111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Estado: </a:t>
            </a:r>
            <a:r>
              <a:rPr b="1" lang="en" sz="1800">
                <a:solidFill>
                  <a:schemeClr val="dk2"/>
                </a:solidFill>
              </a:rPr>
              <a:t>saturado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26" name="Google Shape;926;p88"/>
          <p:cNvSpPr txBox="1"/>
          <p:nvPr/>
        </p:nvSpPr>
        <p:spPr>
          <a:xfrm>
            <a:off x="-1310325" y="1992375"/>
            <a:ext cx="227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Estado: normal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7" name="Google Shape;927;p88"/>
          <p:cNvSpPr txBox="1"/>
          <p:nvPr/>
        </p:nvSpPr>
        <p:spPr>
          <a:xfrm>
            <a:off x="4041875" y="4228938"/>
            <a:ext cx="48927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Volumen según data franja horaria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Eficiencia según estado de saturación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8" name="Google Shape;928;p88"/>
          <p:cNvSpPr txBox="1"/>
          <p:nvPr/>
        </p:nvSpPr>
        <p:spPr>
          <a:xfrm>
            <a:off x="5530000" y="3106838"/>
            <a:ext cx="48927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Seamless real: 79.3%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Seamless estimado: 80.6%</a:t>
            </a:r>
            <a:endParaRPr b="1" sz="1800">
              <a:solidFill>
                <a:schemeClr val="dk2"/>
              </a:solidFill>
            </a:endParaRPr>
          </a:p>
        </p:txBody>
      </p:sp>
      <p:graphicFrame>
        <p:nvGraphicFramePr>
          <p:cNvPr id="929" name="Google Shape;929;p88"/>
          <p:cNvGraphicFramePr/>
          <p:nvPr/>
        </p:nvGraphicFramePr>
        <p:xfrm>
          <a:off x="-1809450" y="347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{B4A28873-30BD-423C-B209-231E7F0A251B}</a:tableStyleId>
              </a:tblPr>
              <a:tblGrid>
                <a:gridCol w="942775"/>
                <a:gridCol w="942775"/>
                <a:gridCol w="942775"/>
                <a:gridCol w="942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Lost ord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AAA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Original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Simulated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Stores closing</a:t>
            </a:r>
            <a:endParaRPr/>
          </a:p>
        </p:txBody>
      </p:sp>
      <p:sp>
        <p:nvSpPr>
          <p:cNvPr id="935" name="Google Shape;935;p8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0"/>
          <p:cNvSpPr/>
          <p:nvPr/>
        </p:nvSpPr>
        <p:spPr>
          <a:xfrm>
            <a:off x="4907025" y="2024875"/>
            <a:ext cx="18918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Pedido 1</a:t>
            </a:r>
            <a:endParaRPr/>
          </a:p>
        </p:txBody>
      </p:sp>
      <p:cxnSp>
        <p:nvCxnSpPr>
          <p:cNvPr id="941" name="Google Shape;941;p90"/>
          <p:cNvCxnSpPr/>
          <p:nvPr/>
        </p:nvCxnSpPr>
        <p:spPr>
          <a:xfrm>
            <a:off x="312363" y="3284300"/>
            <a:ext cx="83139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" name="Google Shape;942;p90"/>
          <p:cNvSpPr txBox="1"/>
          <p:nvPr/>
        </p:nvSpPr>
        <p:spPr>
          <a:xfrm>
            <a:off x="7631185" y="3373700"/>
            <a:ext cx="1327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23:59:59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43" name="Google Shape;943;p90"/>
          <p:cNvSpPr txBox="1"/>
          <p:nvPr/>
        </p:nvSpPr>
        <p:spPr>
          <a:xfrm>
            <a:off x="185625" y="3373700"/>
            <a:ext cx="9897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12:00:00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44" name="Google Shape;944;p90"/>
          <p:cNvSpPr/>
          <p:nvPr/>
        </p:nvSpPr>
        <p:spPr>
          <a:xfrm>
            <a:off x="400975" y="893646"/>
            <a:ext cx="8468800" cy="2334875"/>
          </a:xfrm>
          <a:custGeom>
            <a:rect b="b" l="l" r="r" t="t"/>
            <a:pathLst>
              <a:path extrusionOk="0" h="93395" w="338752">
                <a:moveTo>
                  <a:pt x="0" y="19837"/>
                </a:moveTo>
                <a:cubicBezTo>
                  <a:pt x="9881" y="14896"/>
                  <a:pt x="18955" y="31453"/>
                  <a:pt x="27100" y="38918"/>
                </a:cubicBezTo>
                <a:cubicBezTo>
                  <a:pt x="36998" y="47990"/>
                  <a:pt x="42088" y="61225"/>
                  <a:pt x="50329" y="71825"/>
                </a:cubicBezTo>
                <a:cubicBezTo>
                  <a:pt x="54090" y="76663"/>
                  <a:pt x="61912" y="76395"/>
                  <a:pt x="68027" y="76803"/>
                </a:cubicBezTo>
                <a:cubicBezTo>
                  <a:pt x="70434" y="76964"/>
                  <a:pt x="73122" y="74776"/>
                  <a:pt x="75217" y="75973"/>
                </a:cubicBezTo>
                <a:cubicBezTo>
                  <a:pt x="76771" y="76861"/>
                  <a:pt x="77860" y="78837"/>
                  <a:pt x="79641" y="79015"/>
                </a:cubicBezTo>
                <a:cubicBezTo>
                  <a:pt x="89006" y="79953"/>
                  <a:pt x="98231" y="76032"/>
                  <a:pt x="107571" y="74867"/>
                </a:cubicBezTo>
                <a:cubicBezTo>
                  <a:pt x="111961" y="74319"/>
                  <a:pt x="117219" y="77404"/>
                  <a:pt x="120844" y="74867"/>
                </a:cubicBezTo>
                <a:cubicBezTo>
                  <a:pt x="125292" y="71754"/>
                  <a:pt x="126607" y="65060"/>
                  <a:pt x="131353" y="62423"/>
                </a:cubicBezTo>
                <a:cubicBezTo>
                  <a:pt x="139789" y="57736"/>
                  <a:pt x="150534" y="58471"/>
                  <a:pt x="159006" y="53850"/>
                </a:cubicBezTo>
                <a:cubicBezTo>
                  <a:pt x="163117" y="51608"/>
                  <a:pt x="162997" y="44356"/>
                  <a:pt x="167302" y="42513"/>
                </a:cubicBezTo>
                <a:cubicBezTo>
                  <a:pt x="170625" y="41090"/>
                  <a:pt x="174978" y="41474"/>
                  <a:pt x="177534" y="38918"/>
                </a:cubicBezTo>
                <a:cubicBezTo>
                  <a:pt x="181080" y="35372"/>
                  <a:pt x="181688" y="28512"/>
                  <a:pt x="186383" y="26750"/>
                </a:cubicBezTo>
                <a:cubicBezTo>
                  <a:pt x="189921" y="25422"/>
                  <a:pt x="194380" y="26475"/>
                  <a:pt x="197444" y="24262"/>
                </a:cubicBezTo>
                <a:cubicBezTo>
                  <a:pt x="201093" y="21626"/>
                  <a:pt x="203601" y="17553"/>
                  <a:pt x="207399" y="15136"/>
                </a:cubicBezTo>
                <a:cubicBezTo>
                  <a:pt x="213498" y="11254"/>
                  <a:pt x="221465" y="11314"/>
                  <a:pt x="227862" y="7946"/>
                </a:cubicBezTo>
                <a:cubicBezTo>
                  <a:pt x="232860" y="5315"/>
                  <a:pt x="237930" y="-1856"/>
                  <a:pt x="243072" y="480"/>
                </a:cubicBezTo>
                <a:cubicBezTo>
                  <a:pt x="249491" y="3396"/>
                  <a:pt x="252391" y="11720"/>
                  <a:pt x="258834" y="14583"/>
                </a:cubicBezTo>
                <a:cubicBezTo>
                  <a:pt x="267970" y="18642"/>
                  <a:pt x="277598" y="23219"/>
                  <a:pt x="283999" y="30898"/>
                </a:cubicBezTo>
                <a:cubicBezTo>
                  <a:pt x="287419" y="35000"/>
                  <a:pt x="286527" y="41615"/>
                  <a:pt x="289806" y="45831"/>
                </a:cubicBezTo>
                <a:cubicBezTo>
                  <a:pt x="296104" y="53928"/>
                  <a:pt x="306513" y="58099"/>
                  <a:pt x="313034" y="66018"/>
                </a:cubicBezTo>
                <a:cubicBezTo>
                  <a:pt x="316669" y="70432"/>
                  <a:pt x="315795" y="77404"/>
                  <a:pt x="319118" y="82057"/>
                </a:cubicBezTo>
                <a:cubicBezTo>
                  <a:pt x="323510" y="88207"/>
                  <a:pt x="331583" y="91003"/>
                  <a:pt x="338752" y="9339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45" name="Google Shape;945;p90"/>
          <p:cNvSpPr txBox="1"/>
          <p:nvPr/>
        </p:nvSpPr>
        <p:spPr>
          <a:xfrm>
            <a:off x="312375" y="3608900"/>
            <a:ext cx="534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Pedidos en cola en cada segundo:</a:t>
            </a:r>
            <a:endParaRPr sz="1000">
              <a:solidFill>
                <a:srgbClr val="FF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●"/>
            </a:pPr>
            <a:r>
              <a:rPr lang="en" sz="1000">
                <a:solidFill>
                  <a:srgbClr val="FF0000"/>
                </a:solidFill>
              </a:rPr>
              <a:t>Pedidos que fueron aceptados por el partner antes de la referencia (del segundo específico de consulta) y que fueron retirados (picked up) después del segundo de consulta. 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E13"/>
                </a:solidFill>
              </a:rPr>
              <a:t>Riders esperando en cada segundo:</a:t>
            </a:r>
            <a:endParaRPr b="1" sz="1000">
              <a:solidFill>
                <a:srgbClr val="274E13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●"/>
            </a:pPr>
            <a:r>
              <a:rPr lang="en" sz="1000">
                <a:solidFill>
                  <a:srgbClr val="274E13"/>
                </a:solidFill>
              </a:rPr>
              <a:t>Riders que estan near pickup antes de la referencia y que</a:t>
            </a:r>
            <a:endParaRPr sz="1000">
              <a:solidFill>
                <a:srgbClr val="274E1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○"/>
            </a:pPr>
            <a:r>
              <a:rPr lang="en" sz="1000">
                <a:solidFill>
                  <a:srgbClr val="274E13"/>
                </a:solidFill>
              </a:rPr>
              <a:t>Picked up después de la referencia.</a:t>
            </a:r>
            <a:endParaRPr sz="1000">
              <a:solidFill>
                <a:srgbClr val="274E1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○"/>
            </a:pPr>
            <a:r>
              <a:rPr lang="en" sz="1000">
                <a:solidFill>
                  <a:srgbClr val="274E13"/>
                </a:solidFill>
              </a:rPr>
              <a:t>O reasignaron después de la referencia. </a:t>
            </a:r>
            <a:endParaRPr sz="1000">
              <a:solidFill>
                <a:srgbClr val="274E13"/>
              </a:solidFill>
            </a:endParaRPr>
          </a:p>
        </p:txBody>
      </p:sp>
      <p:cxnSp>
        <p:nvCxnSpPr>
          <p:cNvPr id="946" name="Google Shape;946;p90"/>
          <p:cNvCxnSpPr/>
          <p:nvPr/>
        </p:nvCxnSpPr>
        <p:spPr>
          <a:xfrm>
            <a:off x="5461275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90"/>
          <p:cNvCxnSpPr/>
          <p:nvPr/>
        </p:nvCxnSpPr>
        <p:spPr>
          <a:xfrm>
            <a:off x="5377200" y="3214675"/>
            <a:ext cx="0" cy="22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90"/>
          <p:cNvCxnSpPr/>
          <p:nvPr/>
        </p:nvCxnSpPr>
        <p:spPr>
          <a:xfrm>
            <a:off x="5293125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90"/>
          <p:cNvCxnSpPr/>
          <p:nvPr/>
        </p:nvCxnSpPr>
        <p:spPr>
          <a:xfrm>
            <a:off x="5209050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90"/>
          <p:cNvSpPr txBox="1"/>
          <p:nvPr/>
        </p:nvSpPr>
        <p:spPr>
          <a:xfrm>
            <a:off x="5160085" y="3489175"/>
            <a:ext cx="1327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</a:rPr>
              <a:t>18:50:40</a:t>
            </a:r>
            <a:endParaRPr sz="1300">
              <a:solidFill>
                <a:srgbClr val="0000FF"/>
              </a:solidFill>
            </a:endParaRPr>
          </a:p>
        </p:txBody>
      </p:sp>
      <p:cxnSp>
        <p:nvCxnSpPr>
          <p:cNvPr id="951" name="Google Shape;951;p90"/>
          <p:cNvCxnSpPr/>
          <p:nvPr/>
        </p:nvCxnSpPr>
        <p:spPr>
          <a:xfrm>
            <a:off x="5355040" y="1244520"/>
            <a:ext cx="24900" cy="20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52" name="Google Shape;952;p90"/>
          <p:cNvSpPr txBox="1"/>
          <p:nvPr/>
        </p:nvSpPr>
        <p:spPr>
          <a:xfrm>
            <a:off x="4663150" y="1950175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3" name="Google Shape;953;p90"/>
          <p:cNvSpPr txBox="1"/>
          <p:nvPr/>
        </p:nvSpPr>
        <p:spPr>
          <a:xfrm>
            <a:off x="6700000" y="1950175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4" name="Google Shape;954;p90"/>
          <p:cNvSpPr/>
          <p:nvPr/>
        </p:nvSpPr>
        <p:spPr>
          <a:xfrm>
            <a:off x="5628456" y="2435930"/>
            <a:ext cx="18918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Pedido 2</a:t>
            </a:r>
            <a:endParaRPr/>
          </a:p>
        </p:txBody>
      </p:sp>
      <p:sp>
        <p:nvSpPr>
          <p:cNvPr id="955" name="Google Shape;955;p90"/>
          <p:cNvSpPr txBox="1"/>
          <p:nvPr/>
        </p:nvSpPr>
        <p:spPr>
          <a:xfrm>
            <a:off x="7431575" y="2346450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6" name="Google Shape;956;p90"/>
          <p:cNvSpPr txBox="1"/>
          <p:nvPr/>
        </p:nvSpPr>
        <p:spPr>
          <a:xfrm>
            <a:off x="5379950" y="2346450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7" name="Google Shape;957;p90"/>
          <p:cNvSpPr/>
          <p:nvPr/>
        </p:nvSpPr>
        <p:spPr>
          <a:xfrm>
            <a:off x="3340456" y="2904855"/>
            <a:ext cx="18918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Pedido 3</a:t>
            </a:r>
            <a:endParaRPr/>
          </a:p>
        </p:txBody>
      </p:sp>
      <p:sp>
        <p:nvSpPr>
          <p:cNvPr id="958" name="Google Shape;958;p90"/>
          <p:cNvSpPr txBox="1"/>
          <p:nvPr/>
        </p:nvSpPr>
        <p:spPr>
          <a:xfrm>
            <a:off x="5143575" y="2815375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9" name="Google Shape;959;p90"/>
          <p:cNvSpPr txBox="1"/>
          <p:nvPr/>
        </p:nvSpPr>
        <p:spPr>
          <a:xfrm>
            <a:off x="3091950" y="2815375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0" name="Google Shape;960;p90"/>
          <p:cNvSpPr/>
          <p:nvPr/>
        </p:nvSpPr>
        <p:spPr>
          <a:xfrm>
            <a:off x="384275" y="2068785"/>
            <a:ext cx="7877850" cy="1123700"/>
          </a:xfrm>
          <a:custGeom>
            <a:rect b="b" l="l" r="r" t="t"/>
            <a:pathLst>
              <a:path extrusionOk="0" h="44948" w="315114">
                <a:moveTo>
                  <a:pt x="0" y="24553"/>
                </a:moveTo>
                <a:cubicBezTo>
                  <a:pt x="7275" y="26978"/>
                  <a:pt x="13295" y="32586"/>
                  <a:pt x="20693" y="34604"/>
                </a:cubicBezTo>
                <a:cubicBezTo>
                  <a:pt x="39771" y="39809"/>
                  <a:pt x="60062" y="38753"/>
                  <a:pt x="79518" y="42289"/>
                </a:cubicBezTo>
                <a:cubicBezTo>
                  <a:pt x="86983" y="43646"/>
                  <a:pt x="94768" y="41217"/>
                  <a:pt x="102279" y="42289"/>
                </a:cubicBezTo>
                <a:cubicBezTo>
                  <a:pt x="106085" y="42832"/>
                  <a:pt x="109987" y="41570"/>
                  <a:pt x="113808" y="41994"/>
                </a:cubicBezTo>
                <a:cubicBezTo>
                  <a:pt x="120805" y="42770"/>
                  <a:pt x="128027" y="46292"/>
                  <a:pt x="134796" y="44358"/>
                </a:cubicBezTo>
                <a:cubicBezTo>
                  <a:pt x="139167" y="43109"/>
                  <a:pt x="142210" y="38663"/>
                  <a:pt x="146620" y="37560"/>
                </a:cubicBezTo>
                <a:cubicBezTo>
                  <a:pt x="160271" y="34146"/>
                  <a:pt x="174367" y="30200"/>
                  <a:pt x="185935" y="22188"/>
                </a:cubicBezTo>
                <a:cubicBezTo>
                  <a:pt x="189620" y="19636"/>
                  <a:pt x="193765" y="17714"/>
                  <a:pt x="197168" y="14798"/>
                </a:cubicBezTo>
                <a:cubicBezTo>
                  <a:pt x="202976" y="9821"/>
                  <a:pt x="207599" y="1455"/>
                  <a:pt x="215200" y="609"/>
                </a:cubicBezTo>
                <a:cubicBezTo>
                  <a:pt x="221408" y="-82"/>
                  <a:pt x="228625" y="-785"/>
                  <a:pt x="233823" y="2678"/>
                </a:cubicBezTo>
                <a:cubicBezTo>
                  <a:pt x="237614" y="5204"/>
                  <a:pt x="240522" y="8969"/>
                  <a:pt x="244464" y="11251"/>
                </a:cubicBezTo>
                <a:cubicBezTo>
                  <a:pt x="255711" y="17762"/>
                  <a:pt x="267721" y="23234"/>
                  <a:pt x="277868" y="31352"/>
                </a:cubicBezTo>
                <a:cubicBezTo>
                  <a:pt x="283613" y="35948"/>
                  <a:pt x="292384" y="34308"/>
                  <a:pt x="299742" y="34308"/>
                </a:cubicBezTo>
                <a:cubicBezTo>
                  <a:pt x="304926" y="34308"/>
                  <a:pt x="309930" y="36673"/>
                  <a:pt x="315114" y="36673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5" name="Google Shape;965;p91"/>
          <p:cNvCxnSpPr/>
          <p:nvPr/>
        </p:nvCxnSpPr>
        <p:spPr>
          <a:xfrm>
            <a:off x="312363" y="3284300"/>
            <a:ext cx="83139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6" name="Google Shape;966;p91"/>
          <p:cNvSpPr txBox="1"/>
          <p:nvPr/>
        </p:nvSpPr>
        <p:spPr>
          <a:xfrm>
            <a:off x="7631185" y="3373700"/>
            <a:ext cx="1327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23:59:59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67" name="Google Shape;967;p91"/>
          <p:cNvSpPr txBox="1"/>
          <p:nvPr/>
        </p:nvSpPr>
        <p:spPr>
          <a:xfrm>
            <a:off x="185625" y="3373700"/>
            <a:ext cx="9897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12:00:00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68" name="Google Shape;968;p91"/>
          <p:cNvSpPr/>
          <p:nvPr/>
        </p:nvSpPr>
        <p:spPr>
          <a:xfrm>
            <a:off x="400975" y="893646"/>
            <a:ext cx="8468800" cy="2334875"/>
          </a:xfrm>
          <a:custGeom>
            <a:rect b="b" l="l" r="r" t="t"/>
            <a:pathLst>
              <a:path extrusionOk="0" h="93395" w="338752">
                <a:moveTo>
                  <a:pt x="0" y="19837"/>
                </a:moveTo>
                <a:cubicBezTo>
                  <a:pt x="9881" y="14896"/>
                  <a:pt x="18955" y="31453"/>
                  <a:pt x="27100" y="38918"/>
                </a:cubicBezTo>
                <a:cubicBezTo>
                  <a:pt x="36998" y="47990"/>
                  <a:pt x="42088" y="61225"/>
                  <a:pt x="50329" y="71825"/>
                </a:cubicBezTo>
                <a:cubicBezTo>
                  <a:pt x="54090" y="76663"/>
                  <a:pt x="61912" y="76395"/>
                  <a:pt x="68027" y="76803"/>
                </a:cubicBezTo>
                <a:cubicBezTo>
                  <a:pt x="70434" y="76964"/>
                  <a:pt x="73122" y="74776"/>
                  <a:pt x="75217" y="75973"/>
                </a:cubicBezTo>
                <a:cubicBezTo>
                  <a:pt x="76771" y="76861"/>
                  <a:pt x="77860" y="78837"/>
                  <a:pt x="79641" y="79015"/>
                </a:cubicBezTo>
                <a:cubicBezTo>
                  <a:pt x="89006" y="79953"/>
                  <a:pt x="98231" y="76032"/>
                  <a:pt x="107571" y="74867"/>
                </a:cubicBezTo>
                <a:cubicBezTo>
                  <a:pt x="111961" y="74319"/>
                  <a:pt x="117219" y="77404"/>
                  <a:pt x="120844" y="74867"/>
                </a:cubicBezTo>
                <a:cubicBezTo>
                  <a:pt x="125292" y="71754"/>
                  <a:pt x="126607" y="65060"/>
                  <a:pt x="131353" y="62423"/>
                </a:cubicBezTo>
                <a:cubicBezTo>
                  <a:pt x="139789" y="57736"/>
                  <a:pt x="150534" y="58471"/>
                  <a:pt x="159006" y="53850"/>
                </a:cubicBezTo>
                <a:cubicBezTo>
                  <a:pt x="163117" y="51608"/>
                  <a:pt x="162997" y="44356"/>
                  <a:pt x="167302" y="42513"/>
                </a:cubicBezTo>
                <a:cubicBezTo>
                  <a:pt x="170625" y="41090"/>
                  <a:pt x="174978" y="41474"/>
                  <a:pt x="177534" y="38918"/>
                </a:cubicBezTo>
                <a:cubicBezTo>
                  <a:pt x="181080" y="35372"/>
                  <a:pt x="181688" y="28512"/>
                  <a:pt x="186383" y="26750"/>
                </a:cubicBezTo>
                <a:cubicBezTo>
                  <a:pt x="189921" y="25422"/>
                  <a:pt x="194380" y="26475"/>
                  <a:pt x="197444" y="24262"/>
                </a:cubicBezTo>
                <a:cubicBezTo>
                  <a:pt x="201093" y="21626"/>
                  <a:pt x="203601" y="17553"/>
                  <a:pt x="207399" y="15136"/>
                </a:cubicBezTo>
                <a:cubicBezTo>
                  <a:pt x="213498" y="11254"/>
                  <a:pt x="221465" y="11314"/>
                  <a:pt x="227862" y="7946"/>
                </a:cubicBezTo>
                <a:cubicBezTo>
                  <a:pt x="232860" y="5315"/>
                  <a:pt x="237930" y="-1856"/>
                  <a:pt x="243072" y="480"/>
                </a:cubicBezTo>
                <a:cubicBezTo>
                  <a:pt x="249491" y="3396"/>
                  <a:pt x="252391" y="11720"/>
                  <a:pt x="258834" y="14583"/>
                </a:cubicBezTo>
                <a:cubicBezTo>
                  <a:pt x="267970" y="18642"/>
                  <a:pt x="277598" y="23219"/>
                  <a:pt x="283999" y="30898"/>
                </a:cubicBezTo>
                <a:cubicBezTo>
                  <a:pt x="287419" y="35000"/>
                  <a:pt x="286527" y="41615"/>
                  <a:pt x="289806" y="45831"/>
                </a:cubicBezTo>
                <a:cubicBezTo>
                  <a:pt x="296104" y="53928"/>
                  <a:pt x="306513" y="58099"/>
                  <a:pt x="313034" y="66018"/>
                </a:cubicBezTo>
                <a:cubicBezTo>
                  <a:pt x="316669" y="70432"/>
                  <a:pt x="315795" y="77404"/>
                  <a:pt x="319118" y="82057"/>
                </a:cubicBezTo>
                <a:cubicBezTo>
                  <a:pt x="323510" y="88207"/>
                  <a:pt x="331583" y="91003"/>
                  <a:pt x="338752" y="9339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69" name="Google Shape;969;p91"/>
          <p:cNvSpPr txBox="1"/>
          <p:nvPr/>
        </p:nvSpPr>
        <p:spPr>
          <a:xfrm>
            <a:off x="312375" y="3608900"/>
            <a:ext cx="534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Pedidos en cola en cada segundo:</a:t>
            </a:r>
            <a:endParaRPr sz="1000">
              <a:solidFill>
                <a:srgbClr val="FF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●"/>
            </a:pPr>
            <a:r>
              <a:rPr lang="en" sz="1000">
                <a:solidFill>
                  <a:srgbClr val="FF0000"/>
                </a:solidFill>
              </a:rPr>
              <a:t>Pedidos que fueron aceptados por el partner antes de la referencia (del segundo específico de consulta) y que fueron retirados (picked up) después del segundo de consulta. 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E13"/>
                </a:solidFill>
              </a:rPr>
              <a:t>Riders esperando en cada segundo:</a:t>
            </a:r>
            <a:endParaRPr b="1" sz="1000">
              <a:solidFill>
                <a:srgbClr val="274E13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●"/>
            </a:pPr>
            <a:r>
              <a:rPr lang="en" sz="1000">
                <a:solidFill>
                  <a:srgbClr val="274E13"/>
                </a:solidFill>
              </a:rPr>
              <a:t>Riders que estan near pickup antes de la referencia y que</a:t>
            </a:r>
            <a:endParaRPr sz="1000">
              <a:solidFill>
                <a:srgbClr val="274E1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○"/>
            </a:pPr>
            <a:r>
              <a:rPr lang="en" sz="1000">
                <a:solidFill>
                  <a:srgbClr val="274E13"/>
                </a:solidFill>
              </a:rPr>
              <a:t>Picked up después de la referencia.</a:t>
            </a:r>
            <a:endParaRPr sz="1000">
              <a:solidFill>
                <a:srgbClr val="274E1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○"/>
            </a:pPr>
            <a:r>
              <a:rPr lang="en" sz="1000">
                <a:solidFill>
                  <a:srgbClr val="274E13"/>
                </a:solidFill>
              </a:rPr>
              <a:t>O reasignaron después de la referencia. </a:t>
            </a:r>
            <a:endParaRPr sz="1000">
              <a:solidFill>
                <a:srgbClr val="274E13"/>
              </a:solidFill>
            </a:endParaRPr>
          </a:p>
        </p:txBody>
      </p:sp>
      <p:cxnSp>
        <p:nvCxnSpPr>
          <p:cNvPr id="970" name="Google Shape;970;p91"/>
          <p:cNvCxnSpPr/>
          <p:nvPr/>
        </p:nvCxnSpPr>
        <p:spPr>
          <a:xfrm>
            <a:off x="5461275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91"/>
          <p:cNvCxnSpPr/>
          <p:nvPr/>
        </p:nvCxnSpPr>
        <p:spPr>
          <a:xfrm>
            <a:off x="5377200" y="3214675"/>
            <a:ext cx="0" cy="22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91"/>
          <p:cNvCxnSpPr/>
          <p:nvPr/>
        </p:nvCxnSpPr>
        <p:spPr>
          <a:xfrm>
            <a:off x="5293125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91"/>
          <p:cNvCxnSpPr/>
          <p:nvPr/>
        </p:nvCxnSpPr>
        <p:spPr>
          <a:xfrm>
            <a:off x="5209050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91"/>
          <p:cNvSpPr txBox="1"/>
          <p:nvPr/>
        </p:nvSpPr>
        <p:spPr>
          <a:xfrm>
            <a:off x="5160085" y="3489175"/>
            <a:ext cx="1327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</a:rPr>
              <a:t>18:50:40</a:t>
            </a:r>
            <a:endParaRPr sz="1300">
              <a:solidFill>
                <a:srgbClr val="0000FF"/>
              </a:solidFill>
            </a:endParaRPr>
          </a:p>
        </p:txBody>
      </p:sp>
      <p:cxnSp>
        <p:nvCxnSpPr>
          <p:cNvPr id="975" name="Google Shape;975;p91"/>
          <p:cNvCxnSpPr/>
          <p:nvPr/>
        </p:nvCxnSpPr>
        <p:spPr>
          <a:xfrm>
            <a:off x="5355040" y="1244520"/>
            <a:ext cx="24900" cy="20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76" name="Google Shape;976;p91"/>
          <p:cNvSpPr/>
          <p:nvPr/>
        </p:nvSpPr>
        <p:spPr>
          <a:xfrm>
            <a:off x="384275" y="2068785"/>
            <a:ext cx="7877850" cy="1123700"/>
          </a:xfrm>
          <a:custGeom>
            <a:rect b="b" l="l" r="r" t="t"/>
            <a:pathLst>
              <a:path extrusionOk="0" h="44948" w="315114">
                <a:moveTo>
                  <a:pt x="0" y="24553"/>
                </a:moveTo>
                <a:cubicBezTo>
                  <a:pt x="7275" y="26978"/>
                  <a:pt x="13295" y="32586"/>
                  <a:pt x="20693" y="34604"/>
                </a:cubicBezTo>
                <a:cubicBezTo>
                  <a:pt x="39771" y="39809"/>
                  <a:pt x="60062" y="38753"/>
                  <a:pt x="79518" y="42289"/>
                </a:cubicBezTo>
                <a:cubicBezTo>
                  <a:pt x="86983" y="43646"/>
                  <a:pt x="94768" y="41217"/>
                  <a:pt x="102279" y="42289"/>
                </a:cubicBezTo>
                <a:cubicBezTo>
                  <a:pt x="106085" y="42832"/>
                  <a:pt x="109987" y="41570"/>
                  <a:pt x="113808" y="41994"/>
                </a:cubicBezTo>
                <a:cubicBezTo>
                  <a:pt x="120805" y="42770"/>
                  <a:pt x="128027" y="46292"/>
                  <a:pt x="134796" y="44358"/>
                </a:cubicBezTo>
                <a:cubicBezTo>
                  <a:pt x="139167" y="43109"/>
                  <a:pt x="142210" y="38663"/>
                  <a:pt x="146620" y="37560"/>
                </a:cubicBezTo>
                <a:cubicBezTo>
                  <a:pt x="160271" y="34146"/>
                  <a:pt x="174367" y="30200"/>
                  <a:pt x="185935" y="22188"/>
                </a:cubicBezTo>
                <a:cubicBezTo>
                  <a:pt x="189620" y="19636"/>
                  <a:pt x="193765" y="17714"/>
                  <a:pt x="197168" y="14798"/>
                </a:cubicBezTo>
                <a:cubicBezTo>
                  <a:pt x="202976" y="9821"/>
                  <a:pt x="207599" y="1455"/>
                  <a:pt x="215200" y="609"/>
                </a:cubicBezTo>
                <a:cubicBezTo>
                  <a:pt x="221408" y="-82"/>
                  <a:pt x="228625" y="-785"/>
                  <a:pt x="233823" y="2678"/>
                </a:cubicBezTo>
                <a:cubicBezTo>
                  <a:pt x="237614" y="5204"/>
                  <a:pt x="240522" y="8969"/>
                  <a:pt x="244464" y="11251"/>
                </a:cubicBezTo>
                <a:cubicBezTo>
                  <a:pt x="255711" y="17762"/>
                  <a:pt x="267721" y="23234"/>
                  <a:pt x="277868" y="31352"/>
                </a:cubicBezTo>
                <a:cubicBezTo>
                  <a:pt x="283613" y="35948"/>
                  <a:pt x="292384" y="34308"/>
                  <a:pt x="299742" y="34308"/>
                </a:cubicBezTo>
                <a:cubicBezTo>
                  <a:pt x="304926" y="34308"/>
                  <a:pt x="309930" y="36673"/>
                  <a:pt x="315114" y="36673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7" name="Google Shape;977;p91"/>
          <p:cNvSpPr/>
          <p:nvPr/>
        </p:nvSpPr>
        <p:spPr>
          <a:xfrm>
            <a:off x="3938900" y="2858925"/>
            <a:ext cx="16332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Rider 1 pI</a:t>
            </a:r>
            <a:endParaRPr/>
          </a:p>
        </p:txBody>
      </p:sp>
      <p:sp>
        <p:nvSpPr>
          <p:cNvPr id="978" name="Google Shape;978;p91"/>
          <p:cNvSpPr txBox="1"/>
          <p:nvPr/>
        </p:nvSpPr>
        <p:spPr>
          <a:xfrm>
            <a:off x="3621200" y="2784225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79" name="Google Shape;979;p91"/>
          <p:cNvSpPr txBox="1"/>
          <p:nvPr/>
        </p:nvSpPr>
        <p:spPr>
          <a:xfrm>
            <a:off x="5656275" y="2784225"/>
            <a:ext cx="109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Queued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80" name="Google Shape;980;p91"/>
          <p:cNvSpPr/>
          <p:nvPr/>
        </p:nvSpPr>
        <p:spPr>
          <a:xfrm>
            <a:off x="4261276" y="2433550"/>
            <a:ext cx="16797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Rider 2 pII</a:t>
            </a:r>
            <a:endParaRPr/>
          </a:p>
        </p:txBody>
      </p:sp>
      <p:sp>
        <p:nvSpPr>
          <p:cNvPr id="981" name="Google Shape;981;p91"/>
          <p:cNvSpPr txBox="1"/>
          <p:nvPr/>
        </p:nvSpPr>
        <p:spPr>
          <a:xfrm>
            <a:off x="3899250" y="2379450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82" name="Google Shape;982;p91"/>
          <p:cNvSpPr txBox="1"/>
          <p:nvPr/>
        </p:nvSpPr>
        <p:spPr>
          <a:xfrm>
            <a:off x="5985300" y="2358850"/>
            <a:ext cx="109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PU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83" name="Google Shape;983;p91"/>
          <p:cNvSpPr txBox="1"/>
          <p:nvPr/>
        </p:nvSpPr>
        <p:spPr>
          <a:xfrm>
            <a:off x="450800" y="339950"/>
            <a:ext cx="41211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Por tienda/vendor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8" name="Google Shape;988;p92"/>
          <p:cNvCxnSpPr/>
          <p:nvPr/>
        </p:nvCxnSpPr>
        <p:spPr>
          <a:xfrm>
            <a:off x="312363" y="3284300"/>
            <a:ext cx="83139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9" name="Google Shape;989;p92"/>
          <p:cNvSpPr txBox="1"/>
          <p:nvPr/>
        </p:nvSpPr>
        <p:spPr>
          <a:xfrm>
            <a:off x="7631185" y="3373700"/>
            <a:ext cx="1327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23:59:59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90" name="Google Shape;990;p92"/>
          <p:cNvSpPr txBox="1"/>
          <p:nvPr/>
        </p:nvSpPr>
        <p:spPr>
          <a:xfrm>
            <a:off x="185625" y="3373700"/>
            <a:ext cx="9897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12:00:00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91" name="Google Shape;991;p92"/>
          <p:cNvSpPr/>
          <p:nvPr/>
        </p:nvSpPr>
        <p:spPr>
          <a:xfrm>
            <a:off x="400975" y="893646"/>
            <a:ext cx="8468800" cy="2334875"/>
          </a:xfrm>
          <a:custGeom>
            <a:rect b="b" l="l" r="r" t="t"/>
            <a:pathLst>
              <a:path extrusionOk="0" h="93395" w="338752">
                <a:moveTo>
                  <a:pt x="0" y="19837"/>
                </a:moveTo>
                <a:cubicBezTo>
                  <a:pt x="9881" y="14896"/>
                  <a:pt x="18955" y="31453"/>
                  <a:pt x="27100" y="38918"/>
                </a:cubicBezTo>
                <a:cubicBezTo>
                  <a:pt x="36998" y="47990"/>
                  <a:pt x="42088" y="61225"/>
                  <a:pt x="50329" y="71825"/>
                </a:cubicBezTo>
                <a:cubicBezTo>
                  <a:pt x="54090" y="76663"/>
                  <a:pt x="61912" y="76395"/>
                  <a:pt x="68027" y="76803"/>
                </a:cubicBezTo>
                <a:cubicBezTo>
                  <a:pt x="70434" y="76964"/>
                  <a:pt x="73122" y="74776"/>
                  <a:pt x="75217" y="75973"/>
                </a:cubicBezTo>
                <a:cubicBezTo>
                  <a:pt x="76771" y="76861"/>
                  <a:pt x="77860" y="78837"/>
                  <a:pt x="79641" y="79015"/>
                </a:cubicBezTo>
                <a:cubicBezTo>
                  <a:pt x="89006" y="79953"/>
                  <a:pt x="98231" y="76032"/>
                  <a:pt x="107571" y="74867"/>
                </a:cubicBezTo>
                <a:cubicBezTo>
                  <a:pt x="111961" y="74319"/>
                  <a:pt x="117219" y="77404"/>
                  <a:pt x="120844" y="74867"/>
                </a:cubicBezTo>
                <a:cubicBezTo>
                  <a:pt x="125292" y="71754"/>
                  <a:pt x="126607" y="65060"/>
                  <a:pt x="131353" y="62423"/>
                </a:cubicBezTo>
                <a:cubicBezTo>
                  <a:pt x="139789" y="57736"/>
                  <a:pt x="150534" y="58471"/>
                  <a:pt x="159006" y="53850"/>
                </a:cubicBezTo>
                <a:cubicBezTo>
                  <a:pt x="163117" y="51608"/>
                  <a:pt x="162997" y="44356"/>
                  <a:pt x="167302" y="42513"/>
                </a:cubicBezTo>
                <a:cubicBezTo>
                  <a:pt x="170625" y="41090"/>
                  <a:pt x="174978" y="41474"/>
                  <a:pt x="177534" y="38918"/>
                </a:cubicBezTo>
                <a:cubicBezTo>
                  <a:pt x="181080" y="35372"/>
                  <a:pt x="181688" y="28512"/>
                  <a:pt x="186383" y="26750"/>
                </a:cubicBezTo>
                <a:cubicBezTo>
                  <a:pt x="189921" y="25422"/>
                  <a:pt x="194380" y="26475"/>
                  <a:pt x="197444" y="24262"/>
                </a:cubicBezTo>
                <a:cubicBezTo>
                  <a:pt x="201093" y="21626"/>
                  <a:pt x="203601" y="17553"/>
                  <a:pt x="207399" y="15136"/>
                </a:cubicBezTo>
                <a:cubicBezTo>
                  <a:pt x="213498" y="11254"/>
                  <a:pt x="221465" y="11314"/>
                  <a:pt x="227862" y="7946"/>
                </a:cubicBezTo>
                <a:cubicBezTo>
                  <a:pt x="232860" y="5315"/>
                  <a:pt x="237930" y="-1856"/>
                  <a:pt x="243072" y="480"/>
                </a:cubicBezTo>
                <a:cubicBezTo>
                  <a:pt x="249491" y="3396"/>
                  <a:pt x="252391" y="11720"/>
                  <a:pt x="258834" y="14583"/>
                </a:cubicBezTo>
                <a:cubicBezTo>
                  <a:pt x="267970" y="18642"/>
                  <a:pt x="277598" y="23219"/>
                  <a:pt x="283999" y="30898"/>
                </a:cubicBezTo>
                <a:cubicBezTo>
                  <a:pt x="287419" y="35000"/>
                  <a:pt x="286527" y="41615"/>
                  <a:pt x="289806" y="45831"/>
                </a:cubicBezTo>
                <a:cubicBezTo>
                  <a:pt x="296104" y="53928"/>
                  <a:pt x="306513" y="58099"/>
                  <a:pt x="313034" y="66018"/>
                </a:cubicBezTo>
                <a:cubicBezTo>
                  <a:pt x="316669" y="70432"/>
                  <a:pt x="315795" y="77404"/>
                  <a:pt x="319118" y="82057"/>
                </a:cubicBezTo>
                <a:cubicBezTo>
                  <a:pt x="323510" y="88207"/>
                  <a:pt x="331583" y="91003"/>
                  <a:pt x="338752" y="9339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2" name="Google Shape;992;p92"/>
          <p:cNvSpPr txBox="1"/>
          <p:nvPr/>
        </p:nvSpPr>
        <p:spPr>
          <a:xfrm>
            <a:off x="312375" y="3608900"/>
            <a:ext cx="534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Pedidos en cola en cada segundo:</a:t>
            </a:r>
            <a:endParaRPr sz="1000">
              <a:solidFill>
                <a:srgbClr val="FF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●"/>
            </a:pPr>
            <a:r>
              <a:rPr lang="en" sz="1000">
                <a:solidFill>
                  <a:srgbClr val="FF0000"/>
                </a:solidFill>
              </a:rPr>
              <a:t>Pedidos que fueron aceptados por el partner antes de la referencia (del segundo específico de consulta) y que fueron retirados (picked up) después del segundo de consulta. 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E13"/>
                </a:solidFill>
              </a:rPr>
              <a:t>Riders esperando en cada segundo:</a:t>
            </a:r>
            <a:endParaRPr b="1" sz="1000">
              <a:solidFill>
                <a:srgbClr val="274E13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●"/>
            </a:pPr>
            <a:r>
              <a:rPr lang="en" sz="1000">
                <a:solidFill>
                  <a:srgbClr val="274E13"/>
                </a:solidFill>
              </a:rPr>
              <a:t>Riders que estan near pickup antes de la referencia y que</a:t>
            </a:r>
            <a:endParaRPr sz="1000">
              <a:solidFill>
                <a:srgbClr val="274E1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○"/>
            </a:pPr>
            <a:r>
              <a:rPr lang="en" sz="1000">
                <a:solidFill>
                  <a:srgbClr val="274E13"/>
                </a:solidFill>
              </a:rPr>
              <a:t>Picked up después de la referencia.</a:t>
            </a:r>
            <a:endParaRPr sz="1000">
              <a:solidFill>
                <a:srgbClr val="274E1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Char char="○"/>
            </a:pPr>
            <a:r>
              <a:rPr lang="en" sz="1000">
                <a:solidFill>
                  <a:srgbClr val="274E13"/>
                </a:solidFill>
              </a:rPr>
              <a:t>O reasignaron después de la referencia. </a:t>
            </a:r>
            <a:endParaRPr sz="1000">
              <a:solidFill>
                <a:srgbClr val="274E13"/>
              </a:solidFill>
            </a:endParaRPr>
          </a:p>
        </p:txBody>
      </p:sp>
      <p:cxnSp>
        <p:nvCxnSpPr>
          <p:cNvPr id="993" name="Google Shape;993;p92"/>
          <p:cNvCxnSpPr/>
          <p:nvPr/>
        </p:nvCxnSpPr>
        <p:spPr>
          <a:xfrm>
            <a:off x="5461275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92"/>
          <p:cNvCxnSpPr/>
          <p:nvPr/>
        </p:nvCxnSpPr>
        <p:spPr>
          <a:xfrm>
            <a:off x="5377200" y="3214675"/>
            <a:ext cx="0" cy="22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92"/>
          <p:cNvCxnSpPr/>
          <p:nvPr/>
        </p:nvCxnSpPr>
        <p:spPr>
          <a:xfrm>
            <a:off x="5293125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92"/>
          <p:cNvCxnSpPr/>
          <p:nvPr/>
        </p:nvCxnSpPr>
        <p:spPr>
          <a:xfrm>
            <a:off x="5209050" y="3214675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92"/>
          <p:cNvSpPr txBox="1"/>
          <p:nvPr/>
        </p:nvSpPr>
        <p:spPr>
          <a:xfrm>
            <a:off x="5160085" y="3489175"/>
            <a:ext cx="1327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</a:rPr>
              <a:t>18:50:40</a:t>
            </a:r>
            <a:endParaRPr sz="1300">
              <a:solidFill>
                <a:srgbClr val="0000FF"/>
              </a:solidFill>
            </a:endParaRPr>
          </a:p>
        </p:txBody>
      </p:sp>
      <p:cxnSp>
        <p:nvCxnSpPr>
          <p:cNvPr id="998" name="Google Shape;998;p92"/>
          <p:cNvCxnSpPr/>
          <p:nvPr/>
        </p:nvCxnSpPr>
        <p:spPr>
          <a:xfrm>
            <a:off x="5355040" y="1244520"/>
            <a:ext cx="24900" cy="20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99" name="Google Shape;999;p92"/>
          <p:cNvSpPr/>
          <p:nvPr/>
        </p:nvSpPr>
        <p:spPr>
          <a:xfrm>
            <a:off x="384275" y="2068785"/>
            <a:ext cx="7877850" cy="1123700"/>
          </a:xfrm>
          <a:custGeom>
            <a:rect b="b" l="l" r="r" t="t"/>
            <a:pathLst>
              <a:path extrusionOk="0" h="44948" w="315114">
                <a:moveTo>
                  <a:pt x="0" y="24553"/>
                </a:moveTo>
                <a:cubicBezTo>
                  <a:pt x="7275" y="26978"/>
                  <a:pt x="13295" y="32586"/>
                  <a:pt x="20693" y="34604"/>
                </a:cubicBezTo>
                <a:cubicBezTo>
                  <a:pt x="39771" y="39809"/>
                  <a:pt x="60062" y="38753"/>
                  <a:pt x="79518" y="42289"/>
                </a:cubicBezTo>
                <a:cubicBezTo>
                  <a:pt x="86983" y="43646"/>
                  <a:pt x="94768" y="41217"/>
                  <a:pt x="102279" y="42289"/>
                </a:cubicBezTo>
                <a:cubicBezTo>
                  <a:pt x="106085" y="42832"/>
                  <a:pt x="109987" y="41570"/>
                  <a:pt x="113808" y="41994"/>
                </a:cubicBezTo>
                <a:cubicBezTo>
                  <a:pt x="120805" y="42770"/>
                  <a:pt x="128027" y="46292"/>
                  <a:pt x="134796" y="44358"/>
                </a:cubicBezTo>
                <a:cubicBezTo>
                  <a:pt x="139167" y="43109"/>
                  <a:pt x="142210" y="38663"/>
                  <a:pt x="146620" y="37560"/>
                </a:cubicBezTo>
                <a:cubicBezTo>
                  <a:pt x="160271" y="34146"/>
                  <a:pt x="174367" y="30200"/>
                  <a:pt x="185935" y="22188"/>
                </a:cubicBezTo>
                <a:cubicBezTo>
                  <a:pt x="189620" y="19636"/>
                  <a:pt x="193765" y="17714"/>
                  <a:pt x="197168" y="14798"/>
                </a:cubicBezTo>
                <a:cubicBezTo>
                  <a:pt x="202976" y="9821"/>
                  <a:pt x="207599" y="1455"/>
                  <a:pt x="215200" y="609"/>
                </a:cubicBezTo>
                <a:cubicBezTo>
                  <a:pt x="221408" y="-82"/>
                  <a:pt x="228625" y="-785"/>
                  <a:pt x="233823" y="2678"/>
                </a:cubicBezTo>
                <a:cubicBezTo>
                  <a:pt x="237614" y="5204"/>
                  <a:pt x="240522" y="8969"/>
                  <a:pt x="244464" y="11251"/>
                </a:cubicBezTo>
                <a:cubicBezTo>
                  <a:pt x="255711" y="17762"/>
                  <a:pt x="267721" y="23234"/>
                  <a:pt x="277868" y="31352"/>
                </a:cubicBezTo>
                <a:cubicBezTo>
                  <a:pt x="283613" y="35948"/>
                  <a:pt x="292384" y="34308"/>
                  <a:pt x="299742" y="34308"/>
                </a:cubicBezTo>
                <a:cubicBezTo>
                  <a:pt x="304926" y="34308"/>
                  <a:pt x="309930" y="36673"/>
                  <a:pt x="315114" y="36673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00" name="Google Shape;1000;p92"/>
          <p:cNvSpPr/>
          <p:nvPr/>
        </p:nvSpPr>
        <p:spPr>
          <a:xfrm>
            <a:off x="3938900" y="2858925"/>
            <a:ext cx="16332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Rider 1 pI</a:t>
            </a:r>
            <a:endParaRPr/>
          </a:p>
        </p:txBody>
      </p:sp>
      <p:sp>
        <p:nvSpPr>
          <p:cNvPr id="1001" name="Google Shape;1001;p92"/>
          <p:cNvSpPr txBox="1"/>
          <p:nvPr/>
        </p:nvSpPr>
        <p:spPr>
          <a:xfrm>
            <a:off x="3621200" y="2784225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02" name="Google Shape;1002;p92"/>
          <p:cNvSpPr txBox="1"/>
          <p:nvPr/>
        </p:nvSpPr>
        <p:spPr>
          <a:xfrm>
            <a:off x="5656275" y="2784225"/>
            <a:ext cx="109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Queued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03" name="Google Shape;1003;p92"/>
          <p:cNvSpPr/>
          <p:nvPr/>
        </p:nvSpPr>
        <p:spPr>
          <a:xfrm>
            <a:off x="4261276" y="2433550"/>
            <a:ext cx="1679700" cy="2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Rider 2 pII</a:t>
            </a:r>
            <a:endParaRPr/>
          </a:p>
        </p:txBody>
      </p:sp>
      <p:sp>
        <p:nvSpPr>
          <p:cNvPr id="1004" name="Google Shape;1004;p92"/>
          <p:cNvSpPr txBox="1"/>
          <p:nvPr/>
        </p:nvSpPr>
        <p:spPr>
          <a:xfrm>
            <a:off x="3899250" y="2379450"/>
            <a:ext cx="31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05" name="Google Shape;1005;p92"/>
          <p:cNvSpPr txBox="1"/>
          <p:nvPr/>
        </p:nvSpPr>
        <p:spPr>
          <a:xfrm>
            <a:off x="5985300" y="2358850"/>
            <a:ext cx="109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PU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06" name="Google Shape;1006;p92"/>
          <p:cNvSpPr/>
          <p:nvPr/>
        </p:nvSpPr>
        <p:spPr>
          <a:xfrm>
            <a:off x="5780925" y="195850"/>
            <a:ext cx="2911800" cy="69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 pasa en los siguientes 30 minutos? O 15 minutos? O 20 minutos? </a:t>
            </a:r>
            <a:endParaRPr/>
          </a:p>
        </p:txBody>
      </p:sp>
      <p:graphicFrame>
        <p:nvGraphicFramePr>
          <p:cNvPr id="1007" name="Google Shape;1007;p92"/>
          <p:cNvGraphicFramePr/>
          <p:nvPr/>
        </p:nvGraphicFramePr>
        <p:xfrm>
          <a:off x="862625" y="1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{B4A28873-30BD-423C-B209-231E7F0A251B}</a:tableStyleId>
              </a:tblPr>
              <a:tblGrid>
                <a:gridCol w="800425"/>
                <a:gridCol w="800425"/>
                <a:gridCol w="800425"/>
                <a:gridCol w="800425"/>
              </a:tblGrid>
              <a:tr h="38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Riders esperando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Orders en cola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% del tiempo que eso pasa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Seamless siguientes 20 min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9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 min (1%)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85% seamless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9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20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40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 min (2%)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1% seamless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8" name="Google Shape;1008;p92"/>
          <p:cNvSpPr/>
          <p:nvPr/>
        </p:nvSpPr>
        <p:spPr>
          <a:xfrm>
            <a:off x="338750" y="1352025"/>
            <a:ext cx="8192447" cy="1710575"/>
          </a:xfrm>
          <a:custGeom>
            <a:rect b="b" l="l" r="r" t="t"/>
            <a:pathLst>
              <a:path extrusionOk="0" h="68423" w="332115">
                <a:moveTo>
                  <a:pt x="0" y="2885"/>
                </a:moveTo>
                <a:cubicBezTo>
                  <a:pt x="10475" y="2885"/>
                  <a:pt x="22673" y="7443"/>
                  <a:pt x="28483" y="16158"/>
                </a:cubicBezTo>
                <a:cubicBezTo>
                  <a:pt x="33787" y="24114"/>
                  <a:pt x="30418" y="37286"/>
                  <a:pt x="37885" y="43258"/>
                </a:cubicBezTo>
                <a:cubicBezTo>
                  <a:pt x="53652" y="55867"/>
                  <a:pt x="76353" y="59590"/>
                  <a:pt x="96510" y="58468"/>
                </a:cubicBezTo>
                <a:cubicBezTo>
                  <a:pt x="105644" y="57960"/>
                  <a:pt x="114277" y="53956"/>
                  <a:pt x="123333" y="52660"/>
                </a:cubicBezTo>
                <a:cubicBezTo>
                  <a:pt x="130681" y="51609"/>
                  <a:pt x="138264" y="50449"/>
                  <a:pt x="144903" y="47130"/>
                </a:cubicBezTo>
                <a:cubicBezTo>
                  <a:pt x="149802" y="44681"/>
                  <a:pt x="152007" y="38452"/>
                  <a:pt x="156794" y="35792"/>
                </a:cubicBezTo>
                <a:cubicBezTo>
                  <a:pt x="163736" y="31935"/>
                  <a:pt x="171974" y="30800"/>
                  <a:pt x="178916" y="26943"/>
                </a:cubicBezTo>
                <a:cubicBezTo>
                  <a:pt x="184705" y="23726"/>
                  <a:pt x="185894" y="15613"/>
                  <a:pt x="190254" y="10628"/>
                </a:cubicBezTo>
                <a:cubicBezTo>
                  <a:pt x="194380" y="5912"/>
                  <a:pt x="201098" y="4054"/>
                  <a:pt x="207123" y="2332"/>
                </a:cubicBezTo>
                <a:cubicBezTo>
                  <a:pt x="217142" y="-531"/>
                  <a:pt x="227951" y="1502"/>
                  <a:pt x="238371" y="1502"/>
                </a:cubicBezTo>
                <a:cubicBezTo>
                  <a:pt x="245377" y="1502"/>
                  <a:pt x="252948" y="-1537"/>
                  <a:pt x="259387" y="1225"/>
                </a:cubicBezTo>
                <a:cubicBezTo>
                  <a:pt x="270302" y="5907"/>
                  <a:pt x="277133" y="17236"/>
                  <a:pt x="287317" y="23348"/>
                </a:cubicBezTo>
                <a:cubicBezTo>
                  <a:pt x="293016" y="26768"/>
                  <a:pt x="299919" y="29093"/>
                  <a:pt x="303909" y="34409"/>
                </a:cubicBezTo>
                <a:cubicBezTo>
                  <a:pt x="306611" y="38009"/>
                  <a:pt x="308469" y="42288"/>
                  <a:pt x="311652" y="45471"/>
                </a:cubicBezTo>
                <a:cubicBezTo>
                  <a:pt x="318900" y="52719"/>
                  <a:pt x="327533" y="59254"/>
                  <a:pt x="332115" y="68423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sp>
      <p:cxnSp>
        <p:nvCxnSpPr>
          <p:cNvPr id="1009" name="Google Shape;1009;p92"/>
          <p:cNvCxnSpPr/>
          <p:nvPr/>
        </p:nvCxnSpPr>
        <p:spPr>
          <a:xfrm>
            <a:off x="4638875" y="1403400"/>
            <a:ext cx="4230900" cy="90000"/>
          </a:xfrm>
          <a:prstGeom prst="straightConnector1">
            <a:avLst/>
          </a:prstGeom>
          <a:noFill/>
          <a:ln cap="flat" cmpd="sng" w="38100">
            <a:solidFill>
              <a:srgbClr val="674E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Reductions 2</a:t>
            </a:r>
            <a:endParaRPr/>
          </a:p>
        </p:txBody>
      </p:sp>
      <p:sp>
        <p:nvSpPr>
          <p:cNvPr id="1015" name="Google Shape;1015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4"/>
          <p:cNvSpPr txBox="1"/>
          <p:nvPr>
            <p:ph type="title"/>
          </p:nvPr>
        </p:nvSpPr>
        <p:spPr>
          <a:xfrm>
            <a:off x="205275" y="249925"/>
            <a:ext cx="43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sobreestimados</a:t>
            </a:r>
            <a:endParaRPr/>
          </a:p>
        </p:txBody>
      </p:sp>
      <p:sp>
        <p:nvSpPr>
          <p:cNvPr id="1021" name="Google Shape;1021;p94"/>
          <p:cNvSpPr txBox="1"/>
          <p:nvPr/>
        </p:nvSpPr>
        <p:spPr>
          <a:xfrm>
            <a:off x="275700" y="746850"/>
            <a:ext cx="55602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Objetivo: detectar oportunidades de mejora donde es posible tener tiempos inflados de preparación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2" name="Google Shape;1022;p94"/>
          <p:cNvSpPr/>
          <p:nvPr/>
        </p:nvSpPr>
        <p:spPr>
          <a:xfrm>
            <a:off x="5892500" y="272200"/>
            <a:ext cx="3025200" cy="87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Hitos de ajuste y alcance</a:t>
            </a:r>
            <a:endParaRPr/>
          </a:p>
        </p:txBody>
      </p:sp>
      <p:cxnSp>
        <p:nvCxnSpPr>
          <p:cNvPr id="1023" name="Google Shape;1023;p94"/>
          <p:cNvCxnSpPr/>
          <p:nvPr/>
        </p:nvCxnSpPr>
        <p:spPr>
          <a:xfrm flipH="1" rot="10800000">
            <a:off x="791475" y="2156150"/>
            <a:ext cx="7503300" cy="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4" name="Google Shape;1024;p94"/>
          <p:cNvSpPr/>
          <p:nvPr/>
        </p:nvSpPr>
        <p:spPr>
          <a:xfrm>
            <a:off x="1422200" y="2062875"/>
            <a:ext cx="275400" cy="204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94"/>
          <p:cNvSpPr txBox="1"/>
          <p:nvPr/>
        </p:nvSpPr>
        <p:spPr>
          <a:xfrm>
            <a:off x="737325" y="2571750"/>
            <a:ext cx="182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15/mayo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China Wok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KFC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Wendy's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26" name="Google Shape;1026;p94"/>
          <p:cNvSpPr txBox="1"/>
          <p:nvPr/>
        </p:nvSpPr>
        <p:spPr>
          <a:xfrm>
            <a:off x="2949225" y="2498150"/>
            <a:ext cx="174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20/mayo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Carl's Jr.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Domino's Pizza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Fuente Chilena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Papa John's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945425" y="2445100"/>
            <a:ext cx="1744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22/mayo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Buffet Express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Burger King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Krispy Kreme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Little Caesar's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Starbucks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Streat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Tommy Beans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28" name="Google Shape;1028;p94"/>
          <p:cNvSpPr/>
          <p:nvPr/>
        </p:nvSpPr>
        <p:spPr>
          <a:xfrm>
            <a:off x="635000" y="4161900"/>
            <a:ext cx="5738100" cy="67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La metodología consiste en tomar los vendos con los EPT + AWT más altos, abarcando al menos el 30% de las orders de la franchise</a:t>
            </a:r>
            <a:endParaRPr sz="1100"/>
          </a:p>
        </p:txBody>
      </p:sp>
      <p:sp>
        <p:nvSpPr>
          <p:cNvPr id="1029" name="Google Shape;1029;p94"/>
          <p:cNvSpPr/>
          <p:nvPr/>
        </p:nvSpPr>
        <p:spPr>
          <a:xfrm>
            <a:off x="3439250" y="2109750"/>
            <a:ext cx="275400" cy="204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4"/>
          <p:cNvSpPr/>
          <p:nvPr/>
        </p:nvSpPr>
        <p:spPr>
          <a:xfrm>
            <a:off x="5456300" y="2063300"/>
            <a:ext cx="275400" cy="204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4"/>
          <p:cNvSpPr txBox="1"/>
          <p:nvPr/>
        </p:nvSpPr>
        <p:spPr>
          <a:xfrm>
            <a:off x="6787275" y="2178350"/>
            <a:ext cx="1996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26/mayo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Chicken Factory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Churromania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Doggis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Doggis Heladeria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Dunkin Donuts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El Guatón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Juan Maestro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Mamut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Melt Pizzas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Pedro, Juan y Diego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Street wrap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Tarragona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Under Pizzas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32" name="Google Shape;1032;p94"/>
          <p:cNvSpPr/>
          <p:nvPr/>
        </p:nvSpPr>
        <p:spPr>
          <a:xfrm>
            <a:off x="7473350" y="2027525"/>
            <a:ext cx="275400" cy="204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94"/>
          <p:cNvSpPr txBox="1"/>
          <p:nvPr/>
        </p:nvSpPr>
        <p:spPr>
          <a:xfrm>
            <a:off x="1114900" y="1687525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4" name="Google Shape;1034;p94"/>
          <p:cNvSpPr txBox="1"/>
          <p:nvPr/>
        </p:nvSpPr>
        <p:spPr>
          <a:xfrm>
            <a:off x="3073225" y="16157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5" name="Google Shape;1035;p94"/>
          <p:cNvSpPr txBox="1"/>
          <p:nvPr/>
        </p:nvSpPr>
        <p:spPr>
          <a:xfrm>
            <a:off x="4959500" y="164020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6" name="Google Shape;1036;p94"/>
          <p:cNvSpPr txBox="1"/>
          <p:nvPr/>
        </p:nvSpPr>
        <p:spPr>
          <a:xfrm>
            <a:off x="6770600" y="164020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 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- Regiones</a:t>
            </a:r>
            <a:endParaRPr/>
          </a:p>
        </p:txBody>
      </p:sp>
      <p:sp>
        <p:nvSpPr>
          <p:cNvPr id="1042" name="Google Shape;1042;p95"/>
          <p:cNvSpPr txBox="1"/>
          <p:nvPr/>
        </p:nvSpPr>
        <p:spPr>
          <a:xfrm>
            <a:off x="1088250" y="8258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3" name="Google Shape;1043;p95"/>
          <p:cNvSpPr/>
          <p:nvPr/>
        </p:nvSpPr>
        <p:spPr>
          <a:xfrm>
            <a:off x="1191225" y="18585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95"/>
          <p:cNvSpPr/>
          <p:nvPr/>
        </p:nvSpPr>
        <p:spPr>
          <a:xfrm>
            <a:off x="1690075" y="2656850"/>
            <a:ext cx="364200" cy="90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95"/>
          <p:cNvSpPr/>
          <p:nvPr/>
        </p:nvSpPr>
        <p:spPr>
          <a:xfrm>
            <a:off x="1191225" y="14678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95"/>
          <p:cNvSpPr/>
          <p:nvPr/>
        </p:nvSpPr>
        <p:spPr>
          <a:xfrm>
            <a:off x="1690075" y="21951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7" name="Google Shape;1047;p95"/>
          <p:cNvCxnSpPr/>
          <p:nvPr/>
        </p:nvCxnSpPr>
        <p:spPr>
          <a:xfrm>
            <a:off x="1355550" y="1325750"/>
            <a:ext cx="6174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48" name="Google Shape;1048;p95"/>
          <p:cNvSpPr/>
          <p:nvPr/>
        </p:nvSpPr>
        <p:spPr>
          <a:xfrm>
            <a:off x="2357250" y="18396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95"/>
          <p:cNvSpPr/>
          <p:nvPr/>
        </p:nvSpPr>
        <p:spPr>
          <a:xfrm>
            <a:off x="2856100" y="1910650"/>
            <a:ext cx="364200" cy="163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95"/>
          <p:cNvSpPr/>
          <p:nvPr/>
        </p:nvSpPr>
        <p:spPr>
          <a:xfrm>
            <a:off x="2357250" y="14489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5"/>
          <p:cNvSpPr/>
          <p:nvPr/>
        </p:nvSpPr>
        <p:spPr>
          <a:xfrm>
            <a:off x="2856100" y="1467850"/>
            <a:ext cx="364200" cy="532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2" name="Google Shape;1052;p95"/>
          <p:cNvCxnSpPr>
            <a:stCxn id="1050" idx="0"/>
            <a:endCxn id="1051" idx="0"/>
          </p:cNvCxnSpPr>
          <p:nvPr/>
        </p:nvCxnSpPr>
        <p:spPr>
          <a:xfrm>
            <a:off x="2539350" y="1448950"/>
            <a:ext cx="4989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53" name="Google Shape;1053;p95"/>
          <p:cNvSpPr txBox="1"/>
          <p:nvPr/>
        </p:nvSpPr>
        <p:spPr>
          <a:xfrm>
            <a:off x="123125" y="3609700"/>
            <a:ext cx="43047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Before = 29abril - 14mayo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= 15/mayo - 26/mayo (11 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Ganancia en slow = T (-X%) NT (-Y%)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4" name="Google Shape;1054;p95"/>
          <p:cNvSpPr txBox="1"/>
          <p:nvPr/>
        </p:nvSpPr>
        <p:spPr>
          <a:xfrm>
            <a:off x="5300775" y="9223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5" name="Google Shape;1055;p95"/>
          <p:cNvSpPr/>
          <p:nvPr/>
        </p:nvSpPr>
        <p:spPr>
          <a:xfrm>
            <a:off x="5403750" y="19550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95"/>
          <p:cNvSpPr/>
          <p:nvPr/>
        </p:nvSpPr>
        <p:spPr>
          <a:xfrm>
            <a:off x="5902600" y="2753350"/>
            <a:ext cx="364200" cy="90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95"/>
          <p:cNvSpPr/>
          <p:nvPr/>
        </p:nvSpPr>
        <p:spPr>
          <a:xfrm>
            <a:off x="5403750" y="15643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95"/>
          <p:cNvSpPr/>
          <p:nvPr/>
        </p:nvSpPr>
        <p:spPr>
          <a:xfrm>
            <a:off x="5902600" y="22916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9" name="Google Shape;1059;p95"/>
          <p:cNvCxnSpPr/>
          <p:nvPr/>
        </p:nvCxnSpPr>
        <p:spPr>
          <a:xfrm>
            <a:off x="5568075" y="1422250"/>
            <a:ext cx="6174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60" name="Google Shape;1060;p95"/>
          <p:cNvSpPr/>
          <p:nvPr/>
        </p:nvSpPr>
        <p:spPr>
          <a:xfrm>
            <a:off x="6569775" y="19361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95"/>
          <p:cNvSpPr/>
          <p:nvPr/>
        </p:nvSpPr>
        <p:spPr>
          <a:xfrm>
            <a:off x="7009850" y="1990600"/>
            <a:ext cx="364200" cy="163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95"/>
          <p:cNvSpPr/>
          <p:nvPr/>
        </p:nvSpPr>
        <p:spPr>
          <a:xfrm>
            <a:off x="6569775" y="15454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5"/>
          <p:cNvSpPr/>
          <p:nvPr/>
        </p:nvSpPr>
        <p:spPr>
          <a:xfrm>
            <a:off x="7009850" y="1545450"/>
            <a:ext cx="364200" cy="532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4" name="Google Shape;1064;p95"/>
          <p:cNvCxnSpPr>
            <a:stCxn id="1062" idx="0"/>
            <a:endCxn id="1063" idx="0"/>
          </p:cNvCxnSpPr>
          <p:nvPr/>
        </p:nvCxnSpPr>
        <p:spPr>
          <a:xfrm>
            <a:off x="6751875" y="1545450"/>
            <a:ext cx="44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65" name="Google Shape;1065;p95"/>
          <p:cNvSpPr txBox="1"/>
          <p:nvPr/>
        </p:nvSpPr>
        <p:spPr>
          <a:xfrm>
            <a:off x="4712475" y="3660550"/>
            <a:ext cx="40788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Before = 13mayo - 19mayo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= 20/mayo - 26/mayo (6d)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Ganancia en slow = T (-X%) NT (-Y%)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- Regiones</a:t>
            </a:r>
            <a:endParaRPr/>
          </a:p>
        </p:txBody>
      </p:sp>
      <p:sp>
        <p:nvSpPr>
          <p:cNvPr id="1071" name="Google Shape;1071;p96"/>
          <p:cNvSpPr txBox="1"/>
          <p:nvPr/>
        </p:nvSpPr>
        <p:spPr>
          <a:xfrm>
            <a:off x="1088250" y="8258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2" name="Google Shape;1072;p96"/>
          <p:cNvSpPr/>
          <p:nvPr/>
        </p:nvSpPr>
        <p:spPr>
          <a:xfrm>
            <a:off x="1191225" y="18585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96"/>
          <p:cNvSpPr/>
          <p:nvPr/>
        </p:nvSpPr>
        <p:spPr>
          <a:xfrm>
            <a:off x="1690075" y="2656850"/>
            <a:ext cx="364200" cy="90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6"/>
          <p:cNvSpPr/>
          <p:nvPr/>
        </p:nvSpPr>
        <p:spPr>
          <a:xfrm>
            <a:off x="1191225" y="14678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6"/>
          <p:cNvSpPr/>
          <p:nvPr/>
        </p:nvSpPr>
        <p:spPr>
          <a:xfrm>
            <a:off x="1690075" y="21951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6" name="Google Shape;1076;p96"/>
          <p:cNvCxnSpPr/>
          <p:nvPr/>
        </p:nvCxnSpPr>
        <p:spPr>
          <a:xfrm>
            <a:off x="1355550" y="1325750"/>
            <a:ext cx="6174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77" name="Google Shape;1077;p96"/>
          <p:cNvSpPr/>
          <p:nvPr/>
        </p:nvSpPr>
        <p:spPr>
          <a:xfrm>
            <a:off x="2357250" y="18396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6"/>
          <p:cNvSpPr/>
          <p:nvPr/>
        </p:nvSpPr>
        <p:spPr>
          <a:xfrm>
            <a:off x="2856100" y="1910650"/>
            <a:ext cx="364200" cy="163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96"/>
          <p:cNvSpPr/>
          <p:nvPr/>
        </p:nvSpPr>
        <p:spPr>
          <a:xfrm>
            <a:off x="2357250" y="14489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96"/>
          <p:cNvSpPr/>
          <p:nvPr/>
        </p:nvSpPr>
        <p:spPr>
          <a:xfrm>
            <a:off x="2856100" y="1467850"/>
            <a:ext cx="364200" cy="532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1" name="Google Shape;1081;p96"/>
          <p:cNvCxnSpPr>
            <a:stCxn id="1079" idx="0"/>
            <a:endCxn id="1080" idx="0"/>
          </p:cNvCxnSpPr>
          <p:nvPr/>
        </p:nvCxnSpPr>
        <p:spPr>
          <a:xfrm>
            <a:off x="2539350" y="1448950"/>
            <a:ext cx="4989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82" name="Google Shape;1082;p96"/>
          <p:cNvSpPr txBox="1"/>
          <p:nvPr/>
        </p:nvSpPr>
        <p:spPr>
          <a:xfrm>
            <a:off x="116275" y="3609700"/>
            <a:ext cx="43116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Before = 15/mayo - 19/mayo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= 22/mayo - 26/mayo (11 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Ganancia en slow = T (-X%) NT (-Y%)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3" name="Google Shape;1083;p96"/>
          <p:cNvSpPr txBox="1"/>
          <p:nvPr/>
        </p:nvSpPr>
        <p:spPr>
          <a:xfrm>
            <a:off x="5300775" y="9223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4" name="Google Shape;1084;p96"/>
          <p:cNvSpPr/>
          <p:nvPr/>
        </p:nvSpPr>
        <p:spPr>
          <a:xfrm>
            <a:off x="5403750" y="19550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96"/>
          <p:cNvSpPr/>
          <p:nvPr/>
        </p:nvSpPr>
        <p:spPr>
          <a:xfrm>
            <a:off x="5902600" y="2753350"/>
            <a:ext cx="364200" cy="90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6"/>
          <p:cNvSpPr/>
          <p:nvPr/>
        </p:nvSpPr>
        <p:spPr>
          <a:xfrm>
            <a:off x="5403750" y="15643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96"/>
          <p:cNvSpPr/>
          <p:nvPr/>
        </p:nvSpPr>
        <p:spPr>
          <a:xfrm>
            <a:off x="5902600" y="22916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8" name="Google Shape;1088;p96"/>
          <p:cNvCxnSpPr/>
          <p:nvPr/>
        </p:nvCxnSpPr>
        <p:spPr>
          <a:xfrm>
            <a:off x="5568075" y="1422250"/>
            <a:ext cx="6174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89" name="Google Shape;1089;p96"/>
          <p:cNvSpPr/>
          <p:nvPr/>
        </p:nvSpPr>
        <p:spPr>
          <a:xfrm>
            <a:off x="6569775" y="19361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96"/>
          <p:cNvSpPr/>
          <p:nvPr/>
        </p:nvSpPr>
        <p:spPr>
          <a:xfrm>
            <a:off x="7009850" y="1990600"/>
            <a:ext cx="364200" cy="163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96"/>
          <p:cNvSpPr/>
          <p:nvPr/>
        </p:nvSpPr>
        <p:spPr>
          <a:xfrm>
            <a:off x="6569775" y="15454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96"/>
          <p:cNvSpPr/>
          <p:nvPr/>
        </p:nvSpPr>
        <p:spPr>
          <a:xfrm>
            <a:off x="7068625" y="1564350"/>
            <a:ext cx="364200" cy="532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3" name="Google Shape;1093;p96"/>
          <p:cNvCxnSpPr>
            <a:stCxn id="1091" idx="0"/>
            <a:endCxn id="1092" idx="0"/>
          </p:cNvCxnSpPr>
          <p:nvPr/>
        </p:nvCxnSpPr>
        <p:spPr>
          <a:xfrm>
            <a:off x="6751875" y="1545450"/>
            <a:ext cx="4989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94" name="Google Shape;1094;p96"/>
          <p:cNvSpPr txBox="1"/>
          <p:nvPr/>
        </p:nvSpPr>
        <p:spPr>
          <a:xfrm>
            <a:off x="4712475" y="3463350"/>
            <a:ext cx="4078800" cy="16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Before = agregado de 19, 12 y 5 de mayo.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= 26/mayo (6d)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Ganancia en slow = T (-X%) NT (-Y%)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- Santiago</a:t>
            </a:r>
            <a:endParaRPr/>
          </a:p>
        </p:txBody>
      </p:sp>
      <p:sp>
        <p:nvSpPr>
          <p:cNvPr id="1100" name="Google Shape;1100;p97"/>
          <p:cNvSpPr txBox="1"/>
          <p:nvPr/>
        </p:nvSpPr>
        <p:spPr>
          <a:xfrm>
            <a:off x="1088250" y="8258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1" name="Google Shape;1101;p97"/>
          <p:cNvSpPr/>
          <p:nvPr/>
        </p:nvSpPr>
        <p:spPr>
          <a:xfrm>
            <a:off x="1191225" y="18585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97"/>
          <p:cNvSpPr/>
          <p:nvPr/>
        </p:nvSpPr>
        <p:spPr>
          <a:xfrm>
            <a:off x="1690075" y="2656850"/>
            <a:ext cx="364200" cy="90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97"/>
          <p:cNvSpPr/>
          <p:nvPr/>
        </p:nvSpPr>
        <p:spPr>
          <a:xfrm>
            <a:off x="1191225" y="14678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97"/>
          <p:cNvSpPr/>
          <p:nvPr/>
        </p:nvSpPr>
        <p:spPr>
          <a:xfrm>
            <a:off x="1690075" y="21951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5" name="Google Shape;1105;p97"/>
          <p:cNvCxnSpPr/>
          <p:nvPr/>
        </p:nvCxnSpPr>
        <p:spPr>
          <a:xfrm>
            <a:off x="1355550" y="1325750"/>
            <a:ext cx="6174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06" name="Google Shape;1106;p97"/>
          <p:cNvSpPr/>
          <p:nvPr/>
        </p:nvSpPr>
        <p:spPr>
          <a:xfrm>
            <a:off x="2357250" y="18396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97"/>
          <p:cNvSpPr/>
          <p:nvPr/>
        </p:nvSpPr>
        <p:spPr>
          <a:xfrm>
            <a:off x="2856100" y="1910650"/>
            <a:ext cx="364200" cy="163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97"/>
          <p:cNvSpPr/>
          <p:nvPr/>
        </p:nvSpPr>
        <p:spPr>
          <a:xfrm>
            <a:off x="2357250" y="14489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7"/>
          <p:cNvSpPr/>
          <p:nvPr/>
        </p:nvSpPr>
        <p:spPr>
          <a:xfrm>
            <a:off x="2856100" y="1467850"/>
            <a:ext cx="364200" cy="532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0" name="Google Shape;1110;p97"/>
          <p:cNvCxnSpPr>
            <a:stCxn id="1108" idx="0"/>
            <a:endCxn id="1109" idx="0"/>
          </p:cNvCxnSpPr>
          <p:nvPr/>
        </p:nvCxnSpPr>
        <p:spPr>
          <a:xfrm>
            <a:off x="2539350" y="1448950"/>
            <a:ext cx="4989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11" name="Google Shape;1111;p97"/>
          <p:cNvSpPr txBox="1"/>
          <p:nvPr/>
        </p:nvSpPr>
        <p:spPr>
          <a:xfrm>
            <a:off x="0" y="3609700"/>
            <a:ext cx="44277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Before = 29abril - 14mayo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= 15/mayo - 26/mayo (11 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Ganancia en slow = T (-X%) NT (-Y%)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2" name="Google Shape;1112;p97"/>
          <p:cNvSpPr txBox="1"/>
          <p:nvPr/>
        </p:nvSpPr>
        <p:spPr>
          <a:xfrm>
            <a:off x="5300775" y="922350"/>
            <a:ext cx="12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Wave2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3" name="Google Shape;1113;p97"/>
          <p:cNvSpPr/>
          <p:nvPr/>
        </p:nvSpPr>
        <p:spPr>
          <a:xfrm>
            <a:off x="5403750" y="19550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97"/>
          <p:cNvSpPr/>
          <p:nvPr/>
        </p:nvSpPr>
        <p:spPr>
          <a:xfrm>
            <a:off x="5902600" y="2753350"/>
            <a:ext cx="364200" cy="90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97"/>
          <p:cNvSpPr/>
          <p:nvPr/>
        </p:nvSpPr>
        <p:spPr>
          <a:xfrm>
            <a:off x="5403750" y="15643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97"/>
          <p:cNvSpPr/>
          <p:nvPr/>
        </p:nvSpPr>
        <p:spPr>
          <a:xfrm>
            <a:off x="5902600" y="22916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7" name="Google Shape;1117;p97"/>
          <p:cNvCxnSpPr/>
          <p:nvPr/>
        </p:nvCxnSpPr>
        <p:spPr>
          <a:xfrm>
            <a:off x="5568075" y="1422250"/>
            <a:ext cx="6174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18" name="Google Shape;1118;p97"/>
          <p:cNvSpPr/>
          <p:nvPr/>
        </p:nvSpPr>
        <p:spPr>
          <a:xfrm>
            <a:off x="6569775" y="1936150"/>
            <a:ext cx="364200" cy="170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97"/>
          <p:cNvSpPr/>
          <p:nvPr/>
        </p:nvSpPr>
        <p:spPr>
          <a:xfrm>
            <a:off x="7009850" y="1990600"/>
            <a:ext cx="364200" cy="163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7"/>
          <p:cNvSpPr/>
          <p:nvPr/>
        </p:nvSpPr>
        <p:spPr>
          <a:xfrm>
            <a:off x="6569775" y="1545450"/>
            <a:ext cx="364200" cy="46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7"/>
          <p:cNvSpPr/>
          <p:nvPr/>
        </p:nvSpPr>
        <p:spPr>
          <a:xfrm>
            <a:off x="7068625" y="1564350"/>
            <a:ext cx="364200" cy="532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2" name="Google Shape;1122;p97"/>
          <p:cNvCxnSpPr>
            <a:stCxn id="1120" idx="0"/>
            <a:endCxn id="1121" idx="0"/>
          </p:cNvCxnSpPr>
          <p:nvPr/>
        </p:nvCxnSpPr>
        <p:spPr>
          <a:xfrm>
            <a:off x="6751875" y="1545450"/>
            <a:ext cx="4989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23" name="Google Shape;1123;p97"/>
          <p:cNvSpPr txBox="1"/>
          <p:nvPr/>
        </p:nvSpPr>
        <p:spPr>
          <a:xfrm>
            <a:off x="4712475" y="3660550"/>
            <a:ext cx="40788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Before = 13mayo - 19mayo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= 20/mayo - 26/mayo (6d)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Ganancia en slow = T (-X%) NT (-Y%)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129" name="Google Shape;1129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Scope de ajuste = 300 partners (los q sean)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Dejar correr unas semanas y observar desviaciones con los partners ajustados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 suben? Cada cuánto haremos esto? O nunca mas subieron?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Link donde dejar =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Performance Semanal 2026 - Operaciones &amp; Logística - Google Slides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